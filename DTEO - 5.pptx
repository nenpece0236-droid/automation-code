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714" r:id="rId2"/>
  </p:sldMasterIdLst>
  <p:notesMasterIdLst>
    <p:notesMasterId r:id="rId19"/>
  </p:notesMasterIdLst>
  <p:sldIdLst>
    <p:sldId id="256" r:id="rId3"/>
    <p:sldId id="262" r:id="rId4"/>
    <p:sldId id="259" r:id="rId5"/>
    <p:sldId id="263" r:id="rId6"/>
    <p:sldId id="268" r:id="rId7"/>
    <p:sldId id="280" r:id="rId8"/>
    <p:sldId id="281" r:id="rId9"/>
    <p:sldId id="269" r:id="rId10"/>
    <p:sldId id="278" r:id="rId11"/>
    <p:sldId id="282" r:id="rId12"/>
    <p:sldId id="283" r:id="rId13"/>
    <p:sldId id="284" r:id="rId14"/>
    <p:sldId id="285" r:id="rId15"/>
    <p:sldId id="286" r:id="rId16"/>
    <p:sldId id="287" r:id="rId17"/>
    <p:sldId id="270" r:id="rId18"/>
  </p:sldIdLst>
  <p:sldSz cx="18288000" cy="10287000"/>
  <p:notesSz cx="6858000" cy="9144000"/>
  <p:embeddedFontLst>
    <p:embeddedFont>
      <p:font typeface="Agrandir" panose="020B0604020202020204" charset="0"/>
      <p:regular r:id="rId20"/>
    </p:embeddedFont>
    <p:embeddedFont>
      <p:font typeface="Bahnschrift Condensed" panose="020B0502040204020203" pitchFamily="34" charset="0"/>
      <p:regular r:id="rId21"/>
      <p:bold r:id="rId22"/>
    </p:embeddedFont>
    <p:embeddedFont>
      <p:font typeface="Century Gothic" panose="020B0502020202020204" pitchFamily="34" charset="0"/>
      <p:regular r:id="rId23"/>
      <p:bold r:id="rId24"/>
      <p:italic r:id="rId25"/>
      <p:boldItalic r:id="rId26"/>
    </p:embeddedFont>
    <p:embeddedFont>
      <p:font typeface="Gagalin" panose="020B0604020202020204" charset="0"/>
      <p:regular r:id="rId27"/>
    </p:embeddedFont>
    <p:embeddedFont>
      <p:font typeface="Wingdings 3" panose="05040102010807070707" pitchFamily="18" charset="2"/>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A8690-6A76-4C7B-8F8A-3294A5B1DC09}" type="datetimeFigureOut">
              <a:rPr lang="en-IN" smtClean="0"/>
              <a:t>18-11-2025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155EC-3EA5-4506-8250-8C7647D08BD8}" type="slidenum">
              <a:rPr lang="en-IN" smtClean="0"/>
              <a:t>‹#›</a:t>
            </a:fld>
            <a:endParaRPr lang="en-IN"/>
          </a:p>
        </p:txBody>
      </p:sp>
    </p:spTree>
    <p:extLst>
      <p:ext uri="{BB962C8B-B14F-4D97-AF65-F5344CB8AC3E}">
        <p14:creationId xmlns:p14="http://schemas.microsoft.com/office/powerpoint/2010/main" val="4082588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E1155EC-3EA5-4506-8250-8C7647D08BD8}" type="slidenum">
              <a:rPr lang="en-IN" smtClean="0"/>
              <a:t>5</a:t>
            </a:fld>
            <a:endParaRPr lang="en-IN"/>
          </a:p>
        </p:txBody>
      </p:sp>
    </p:spTree>
    <p:extLst>
      <p:ext uri="{BB962C8B-B14F-4D97-AF65-F5344CB8AC3E}">
        <p14:creationId xmlns:p14="http://schemas.microsoft.com/office/powerpoint/2010/main" val="2673746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81029-7332-64F3-93D7-6A9A3928E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E3339-8271-70A4-AE65-84791B537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7E91B-2CB4-7AA2-EF8E-43FCFE4DF5B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2CC6214-70A9-59F8-6EA7-F31AF494EF6C}"/>
              </a:ext>
            </a:extLst>
          </p:cNvPr>
          <p:cNvSpPr>
            <a:spLocks noGrp="1"/>
          </p:cNvSpPr>
          <p:nvPr>
            <p:ph type="sldNum" sz="quarter" idx="5"/>
          </p:nvPr>
        </p:nvSpPr>
        <p:spPr/>
        <p:txBody>
          <a:bodyPr/>
          <a:lstStyle/>
          <a:p>
            <a:fld id="{5E1155EC-3EA5-4506-8250-8C7647D08BD8}" type="slidenum">
              <a:rPr lang="en-IN" smtClean="0"/>
              <a:t>6</a:t>
            </a:fld>
            <a:endParaRPr lang="en-IN"/>
          </a:p>
        </p:txBody>
      </p:sp>
    </p:spTree>
    <p:extLst>
      <p:ext uri="{BB962C8B-B14F-4D97-AF65-F5344CB8AC3E}">
        <p14:creationId xmlns:p14="http://schemas.microsoft.com/office/powerpoint/2010/main" val="4242871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32433" y="2171701"/>
            <a:ext cx="13238487" cy="4994372"/>
          </a:xfrm>
        </p:spPr>
        <p:txBody>
          <a:bodyPr anchor="b"/>
          <a:lstStyle>
            <a:lvl1pPr>
              <a:defRPr sz="10800"/>
            </a:lvl1pPr>
          </a:lstStyle>
          <a:p>
            <a:r>
              <a:rPr lang="en-US"/>
              <a:t>Click to edit Master title style</a:t>
            </a:r>
          </a:p>
        </p:txBody>
      </p:sp>
      <p:sp>
        <p:nvSpPr>
          <p:cNvPr id="3" name="Subtitle 2"/>
          <p:cNvSpPr>
            <a:spLocks noGrp="1"/>
          </p:cNvSpPr>
          <p:nvPr>
            <p:ph type="subTitle" idx="1"/>
          </p:nvPr>
        </p:nvSpPr>
        <p:spPr>
          <a:xfrm>
            <a:off x="1732433" y="7166070"/>
            <a:ext cx="13238487" cy="1292130"/>
          </a:xfrm>
        </p:spPr>
        <p:txBody>
          <a:bodyPr anchor="t"/>
          <a:lstStyle>
            <a:lvl1pPr marL="0" indent="0" algn="l">
              <a:buNone/>
              <a:defRPr cap="all">
                <a:solidFill>
                  <a:schemeClr val="bg2">
                    <a:lumMod val="40000"/>
                    <a:lumOff val="6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3196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6974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32435" y="4292600"/>
            <a:ext cx="13238486" cy="2873471"/>
          </a:xfrm>
        </p:spPr>
        <p:txBody>
          <a:bodyPr anchor="b"/>
          <a:lstStyle>
            <a:lvl1pPr algn="l">
              <a:defRPr sz="6000" b="0" cap="none"/>
            </a:lvl1pPr>
          </a:lstStyle>
          <a:p>
            <a:r>
              <a:rPr lang="en-US"/>
              <a:t>Click to edit Master title style</a:t>
            </a:r>
          </a:p>
        </p:txBody>
      </p:sp>
      <p:sp>
        <p:nvSpPr>
          <p:cNvPr id="3" name="Text Placeholder 2"/>
          <p:cNvSpPr>
            <a:spLocks noGrp="1"/>
          </p:cNvSpPr>
          <p:nvPr>
            <p:ph type="body" idx="1"/>
          </p:nvPr>
        </p:nvSpPr>
        <p:spPr>
          <a:xfrm>
            <a:off x="1732433" y="7166072"/>
            <a:ext cx="13238487" cy="1290600"/>
          </a:xfrm>
        </p:spPr>
        <p:txBody>
          <a:bodyPr anchor="t"/>
          <a:lstStyle>
            <a:lvl1pPr marL="0" indent="0" algn="l">
              <a:buNone/>
              <a:defRPr sz="3000" cap="all">
                <a:solidFill>
                  <a:schemeClr val="bg2">
                    <a:lumMod val="40000"/>
                    <a:lumOff val="6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2865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54969" y="3090863"/>
            <a:ext cx="6594509" cy="6293645"/>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481740" y="3084139"/>
            <a:ext cx="6594512" cy="6300368"/>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41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54970" y="2857500"/>
            <a:ext cx="6594507"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54969"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481743" y="2857500"/>
            <a:ext cx="6594509"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8481743"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26665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6339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25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0" y="2171700"/>
            <a:ext cx="5101596" cy="2171700"/>
          </a:xfrm>
        </p:spPr>
        <p:txBody>
          <a:bodyPr anchor="b"/>
          <a:lstStyle>
            <a:lvl1pPr algn="l">
              <a:defRPr sz="3600" b="0"/>
            </a:lvl1pPr>
          </a:lstStyle>
          <a:p>
            <a:r>
              <a:rPr lang="en-US"/>
              <a:t>Click to edit Master title style</a:t>
            </a:r>
          </a:p>
        </p:txBody>
      </p:sp>
      <p:sp>
        <p:nvSpPr>
          <p:cNvPr id="3" name="Content Placeholder 2"/>
          <p:cNvSpPr>
            <a:spLocks noGrp="1"/>
          </p:cNvSpPr>
          <p:nvPr>
            <p:ph idx="1"/>
          </p:nvPr>
        </p:nvSpPr>
        <p:spPr>
          <a:xfrm>
            <a:off x="7176925" y="2171700"/>
            <a:ext cx="7793996" cy="6858000"/>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732430" y="4693921"/>
            <a:ext cx="5101595" cy="4343399"/>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7"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99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0861" y="2781288"/>
            <a:ext cx="7639359" cy="2362212"/>
          </a:xfrm>
        </p:spPr>
        <p:txBody>
          <a:bodyPr anchor="b">
            <a:normAutofit/>
          </a:bodyPr>
          <a:lstStyle>
            <a:lvl1pPr algn="l">
              <a:defRPr sz="5400" b="0"/>
            </a:lvl1pPr>
          </a:lstStyle>
          <a:p>
            <a:r>
              <a:rPr lang="en-US"/>
              <a:t>Click to edit Master title style</a:t>
            </a:r>
          </a:p>
        </p:txBody>
      </p:sp>
      <p:sp>
        <p:nvSpPr>
          <p:cNvPr id="3" name="Picture Placeholder 2"/>
          <p:cNvSpPr>
            <a:spLocks noGrp="1" noChangeAspect="1"/>
          </p:cNvSpPr>
          <p:nvPr>
            <p:ph type="pic" idx="1"/>
          </p:nvPr>
        </p:nvSpPr>
        <p:spPr>
          <a:xfrm>
            <a:off x="10424319" y="1714500"/>
            <a:ext cx="480060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4" name="Text Placeholder 3"/>
          <p:cNvSpPr>
            <a:spLocks noGrp="1"/>
          </p:cNvSpPr>
          <p:nvPr>
            <p:ph type="body" sz="half" idx="2"/>
          </p:nvPr>
        </p:nvSpPr>
        <p:spPr>
          <a:xfrm>
            <a:off x="1732432" y="5486400"/>
            <a:ext cx="7627469" cy="2057400"/>
          </a:xfrm>
        </p:spPr>
        <p:txBody>
          <a:bodyP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3482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5" y="7200880"/>
            <a:ext cx="13238486" cy="85010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1732433" y="1028700"/>
            <a:ext cx="13238487" cy="54609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4" name="Text Placeholder 3"/>
          <p:cNvSpPr>
            <a:spLocks noGrp="1"/>
          </p:cNvSpPr>
          <p:nvPr>
            <p:ph type="body" sz="half" idx="2"/>
          </p:nvPr>
        </p:nvSpPr>
        <p:spPr>
          <a:xfrm>
            <a:off x="1732434" y="8050988"/>
            <a:ext cx="13238484" cy="740568"/>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8397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2" y="2171700"/>
            <a:ext cx="13238489" cy="2971800"/>
          </a:xfrm>
        </p:spPr>
        <p:txBody>
          <a:bodyPr/>
          <a:lstStyle>
            <a:lvl1pPr>
              <a:defRPr sz="7200"/>
            </a:lvl1pPr>
          </a:lstStyle>
          <a:p>
            <a:r>
              <a:rPr lang="en-US"/>
              <a:t>Click to edit Master title style</a:t>
            </a:r>
          </a:p>
        </p:txBody>
      </p:sp>
      <p:sp>
        <p:nvSpPr>
          <p:cNvPr id="8" name="Text Placeholder 3"/>
          <p:cNvSpPr>
            <a:spLocks noGrp="1"/>
          </p:cNvSpPr>
          <p:nvPr>
            <p:ph type="body" sz="half" idx="2"/>
          </p:nvPr>
        </p:nvSpPr>
        <p:spPr>
          <a:xfrm>
            <a:off x="1732432" y="5486400"/>
            <a:ext cx="13238489" cy="35433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4127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62202" y="2171700"/>
            <a:ext cx="11998973" cy="3485061"/>
          </a:xfrm>
        </p:spPr>
        <p:txBody>
          <a:bodyPr/>
          <a:lstStyle>
            <a:lvl1pPr>
              <a:defRPr sz="7200"/>
            </a:lvl1pPr>
          </a:lstStyle>
          <a:p>
            <a:r>
              <a:rPr lang="en-US"/>
              <a:t>Click to edit Master title style</a:t>
            </a:r>
          </a:p>
        </p:txBody>
      </p:sp>
      <p:sp>
        <p:nvSpPr>
          <p:cNvPr id="11" name="Text Placeholder 3"/>
          <p:cNvSpPr>
            <a:spLocks noGrp="1"/>
          </p:cNvSpPr>
          <p:nvPr>
            <p:ph type="body" sz="half" idx="14"/>
          </p:nvPr>
        </p:nvSpPr>
        <p:spPr>
          <a:xfrm>
            <a:off x="2895601" y="5656761"/>
            <a:ext cx="10919474" cy="513261"/>
          </a:xfrm>
        </p:spPr>
        <p:txBody>
          <a:bodyPr vert="horz" lIns="91440" tIns="45720" rIns="91440" bIns="45720" rtlCol="0" anchor="t">
            <a:normAutofit/>
          </a:bodyPr>
          <a:lstStyle>
            <a:lvl1pPr marL="0" indent="0">
              <a:buNone/>
              <a:defRPr lang="en-US" sz="2100" b="0" i="0" kern="1200" cap="small" dirty="0">
                <a:solidFill>
                  <a:schemeClr val="bg2">
                    <a:lumMod val="40000"/>
                    <a:lumOff val="60000"/>
                  </a:schemeClr>
                </a:solidFill>
                <a:latin typeface="+mj-lt"/>
                <a:ea typeface="+mj-ea"/>
                <a:cs typeface="+mj-cs"/>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marL="0" lvl="0" indent="0">
              <a:buNone/>
            </a:pPr>
            <a:r>
              <a:rPr lang="en-US"/>
              <a:t>Click to edit Master text styles</a:t>
            </a:r>
          </a:p>
        </p:txBody>
      </p:sp>
      <p:sp>
        <p:nvSpPr>
          <p:cNvPr id="10" name="Text Placeholder 3"/>
          <p:cNvSpPr>
            <a:spLocks noGrp="1"/>
          </p:cNvSpPr>
          <p:nvPr>
            <p:ph type="body" sz="half" idx="2"/>
          </p:nvPr>
        </p:nvSpPr>
        <p:spPr>
          <a:xfrm>
            <a:off x="1732432" y="6525986"/>
            <a:ext cx="13238489" cy="25146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1347443" y="1456880"/>
            <a:ext cx="1202868" cy="290848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8300"/>
              <a:t>“</a:t>
            </a:r>
          </a:p>
        </p:txBody>
      </p:sp>
      <p:sp>
        <p:nvSpPr>
          <p:cNvPr id="15" name="TextBox 14"/>
          <p:cNvSpPr txBox="1"/>
          <p:nvPr/>
        </p:nvSpPr>
        <p:spPr>
          <a:xfrm>
            <a:off x="13995735" y="3920681"/>
            <a:ext cx="1202868" cy="290848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8300"/>
              <a:t>”</a:t>
            </a:r>
          </a:p>
        </p:txBody>
      </p:sp>
    </p:spTree>
    <p:extLst>
      <p:ext uri="{BB962C8B-B14F-4D97-AF65-F5344CB8AC3E}">
        <p14:creationId xmlns:p14="http://schemas.microsoft.com/office/powerpoint/2010/main" val="1717351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32431" y="4686302"/>
            <a:ext cx="13238490" cy="2479770"/>
          </a:xfrm>
        </p:spPr>
        <p:txBody>
          <a:bodyPr anchor="b"/>
          <a:lstStyle>
            <a:lvl1pPr algn="l">
              <a:defRPr sz="6000" b="0" cap="none"/>
            </a:lvl1pPr>
          </a:lstStyle>
          <a:p>
            <a:r>
              <a:rPr lang="en-US"/>
              <a:t>Click to edit Master title style</a:t>
            </a:r>
          </a:p>
        </p:txBody>
      </p:sp>
      <p:sp>
        <p:nvSpPr>
          <p:cNvPr id="3" name="Text Placeholder 2"/>
          <p:cNvSpPr>
            <a:spLocks noGrp="1"/>
          </p:cNvSpPr>
          <p:nvPr>
            <p:ph type="body" idx="1"/>
          </p:nvPr>
        </p:nvSpPr>
        <p:spPr>
          <a:xfrm>
            <a:off x="1732432" y="7166072"/>
            <a:ext cx="13238489" cy="1290600"/>
          </a:xfrm>
        </p:spPr>
        <p:txBody>
          <a:bodyPr anchor="t"/>
          <a:lstStyle>
            <a:lvl1pPr marL="0" indent="0" algn="l">
              <a:buNone/>
              <a:defRPr sz="3000" cap="none">
                <a:solidFill>
                  <a:schemeClr val="bg2">
                    <a:lumMod val="40000"/>
                    <a:lumOff val="6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4312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en-US"/>
              <a:t>Click to edit Master title style</a:t>
            </a:r>
          </a:p>
        </p:txBody>
      </p:sp>
      <p:sp>
        <p:nvSpPr>
          <p:cNvPr id="3" name="Text Placeholder 2"/>
          <p:cNvSpPr>
            <a:spLocks noGrp="1"/>
          </p:cNvSpPr>
          <p:nvPr>
            <p:ph type="body" idx="1"/>
          </p:nvPr>
        </p:nvSpPr>
        <p:spPr>
          <a:xfrm>
            <a:off x="949421" y="2971800"/>
            <a:ext cx="4420299"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6" name="Text Placeholder 3"/>
          <p:cNvSpPr>
            <a:spLocks noGrp="1"/>
          </p:cNvSpPr>
          <p:nvPr>
            <p:ph type="body" sz="half" idx="15"/>
          </p:nvPr>
        </p:nvSpPr>
        <p:spPr>
          <a:xfrm>
            <a:off x="978695" y="4000500"/>
            <a:ext cx="4391025"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5825489" y="2971800"/>
            <a:ext cx="4404362"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Text Placeholder 3"/>
          <p:cNvSpPr>
            <a:spLocks noGrp="1"/>
          </p:cNvSpPr>
          <p:nvPr>
            <p:ph type="body" sz="half" idx="16"/>
          </p:nvPr>
        </p:nvSpPr>
        <p:spPr>
          <a:xfrm>
            <a:off x="5809659" y="4000500"/>
            <a:ext cx="4420191"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0687051" y="2971800"/>
            <a:ext cx="4398170"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Text Placeholder 3"/>
          <p:cNvSpPr>
            <a:spLocks noGrp="1"/>
          </p:cNvSpPr>
          <p:nvPr>
            <p:ph type="body" sz="half" idx="17"/>
          </p:nvPr>
        </p:nvSpPr>
        <p:spPr>
          <a:xfrm>
            <a:off x="10687051" y="4000500"/>
            <a:ext cx="4398170"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7" name="Straight Connector 16"/>
          <p:cNvCxnSpPr/>
          <p:nvPr/>
        </p:nvCxnSpPr>
        <p:spPr>
          <a:xfrm>
            <a:off x="5589213" y="3200400"/>
            <a:ext cx="0" cy="59436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0443341" y="3200400"/>
            <a:ext cx="0" cy="595032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84773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en-US"/>
              <a:t>Click to edit Master title style</a:t>
            </a:r>
          </a:p>
        </p:txBody>
      </p:sp>
      <p:sp>
        <p:nvSpPr>
          <p:cNvPr id="3" name="Text Placeholder 2"/>
          <p:cNvSpPr>
            <a:spLocks noGrp="1"/>
          </p:cNvSpPr>
          <p:nvPr>
            <p:ph type="body" idx="1"/>
          </p:nvPr>
        </p:nvSpPr>
        <p:spPr>
          <a:xfrm>
            <a:off x="978695" y="6376424"/>
            <a:ext cx="4410075"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9" name="Picture Placeholder 2"/>
          <p:cNvSpPr>
            <a:spLocks noGrp="1" noChangeAspect="1"/>
          </p:cNvSpPr>
          <p:nvPr>
            <p:ph type="pic" idx="15"/>
          </p:nvPr>
        </p:nvSpPr>
        <p:spPr>
          <a:xfrm>
            <a:off x="978695" y="3314700"/>
            <a:ext cx="4410075"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22" name="Text Placeholder 3"/>
          <p:cNvSpPr>
            <a:spLocks noGrp="1"/>
          </p:cNvSpPr>
          <p:nvPr>
            <p:ph type="body" sz="half" idx="18"/>
          </p:nvPr>
        </p:nvSpPr>
        <p:spPr>
          <a:xfrm>
            <a:off x="978695" y="7240817"/>
            <a:ext cx="4410075"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5834063" y="6376424"/>
            <a:ext cx="4395788"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30" name="Picture Placeholder 2"/>
          <p:cNvSpPr>
            <a:spLocks noGrp="1" noChangeAspect="1"/>
          </p:cNvSpPr>
          <p:nvPr>
            <p:ph type="pic" idx="21"/>
          </p:nvPr>
        </p:nvSpPr>
        <p:spPr>
          <a:xfrm>
            <a:off x="5834062" y="3314700"/>
            <a:ext cx="4395788"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23" name="Text Placeholder 3"/>
          <p:cNvSpPr>
            <a:spLocks noGrp="1"/>
          </p:cNvSpPr>
          <p:nvPr>
            <p:ph type="body" sz="half" idx="19"/>
          </p:nvPr>
        </p:nvSpPr>
        <p:spPr>
          <a:xfrm>
            <a:off x="5832033" y="7240816"/>
            <a:ext cx="4401609"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0687051" y="6376424"/>
            <a:ext cx="4398170"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31" name="Picture Placeholder 2"/>
          <p:cNvSpPr>
            <a:spLocks noGrp="1" noChangeAspect="1"/>
          </p:cNvSpPr>
          <p:nvPr>
            <p:ph type="pic" idx="22"/>
          </p:nvPr>
        </p:nvSpPr>
        <p:spPr>
          <a:xfrm>
            <a:off x="10687049" y="3314700"/>
            <a:ext cx="4398170"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24" name="Text Placeholder 3"/>
          <p:cNvSpPr>
            <a:spLocks noGrp="1"/>
          </p:cNvSpPr>
          <p:nvPr>
            <p:ph type="body" sz="half" idx="20"/>
          </p:nvPr>
        </p:nvSpPr>
        <p:spPr>
          <a:xfrm>
            <a:off x="10686863" y="7240813"/>
            <a:ext cx="4403996"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9" name="Straight Connector 18"/>
          <p:cNvCxnSpPr/>
          <p:nvPr/>
        </p:nvCxnSpPr>
        <p:spPr>
          <a:xfrm>
            <a:off x="5589213" y="3200400"/>
            <a:ext cx="0" cy="59436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443341" y="3200400"/>
            <a:ext cx="0" cy="595032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9930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8092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456319" y="645320"/>
            <a:ext cx="2628902" cy="8739188"/>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978695" y="1331121"/>
            <a:ext cx="11134724" cy="80533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7415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B8752-6347-3042-6544-99C5A8DE64EB}"/>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4677564B-07AF-6EB6-B8B2-E4C96C29A156}"/>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5576C9F-A54B-0725-DA26-269F579E27EF}"/>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a:extLst>
              <a:ext uri="{FF2B5EF4-FFF2-40B4-BE49-F238E27FC236}">
                <a16:creationId xmlns:a16="http://schemas.microsoft.com/office/drawing/2014/main" id="{F8FC95C7-7322-2394-B0F3-F495ADFB2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FACFA-F2FD-9A0A-724E-5AD11170B78A}"/>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299721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C63A-C9DC-FFCC-E6B2-7E7B74FA88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6CCE40-D86B-B4C8-E5E2-9C05F61CF9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F7C0D6-31C3-A210-BA52-E1FA8C185665}"/>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a:extLst>
              <a:ext uri="{FF2B5EF4-FFF2-40B4-BE49-F238E27FC236}">
                <a16:creationId xmlns:a16="http://schemas.microsoft.com/office/drawing/2014/main" id="{60B9C66D-5059-250F-9ED7-471684C24A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1A6E19-AA29-5640-12ED-399B8A08677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88311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F0D7C-3732-B0C9-41E9-9BE6B8A7EC5D}"/>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8FB62C-395F-B732-8495-6EE81F9DBFC7}"/>
              </a:ext>
            </a:extLst>
          </p:cNvPr>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C41813-D7BA-F828-A1EF-B300F081E236}"/>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a:extLst>
              <a:ext uri="{FF2B5EF4-FFF2-40B4-BE49-F238E27FC236}">
                <a16:creationId xmlns:a16="http://schemas.microsoft.com/office/drawing/2014/main" id="{A685F7E1-91CF-5998-3AB5-525690EC5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E13590-E459-D347-40BC-CC300306C90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96054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3DEB-56E5-A97D-79E0-80D1F8A32B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470DA2-5560-5836-52DB-DBB55689CE9F}"/>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4E8A924-964C-02F3-BA53-7DA7C93A556B}"/>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6D249F-429B-F932-7124-0ED4A3956859}"/>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a:extLst>
              <a:ext uri="{FF2B5EF4-FFF2-40B4-BE49-F238E27FC236}">
                <a16:creationId xmlns:a16="http://schemas.microsoft.com/office/drawing/2014/main" id="{3A0F11B0-FF9D-899E-9B92-383ADAB1C5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C7317C-0BAC-52E5-B1DF-C7F02A67089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5829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5C8B9-FFA1-9802-0C9E-7ED77FD4710C}"/>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EFCD47-C92A-730E-0902-532B994129EF}"/>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297BFBF9-8526-9207-2E9B-2D313097477C}"/>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ED7B9B-E7BC-1EC6-6405-C835A77CBC5B}"/>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E52C034E-B90C-0986-CD5E-E8C579D51F95}"/>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61725A-3631-2086-A17E-05E4B45016F3}"/>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a:extLst>
              <a:ext uri="{FF2B5EF4-FFF2-40B4-BE49-F238E27FC236}">
                <a16:creationId xmlns:a16="http://schemas.microsoft.com/office/drawing/2014/main" id="{0F1CF355-A3FD-8901-D90F-964FAB5007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917066-760E-BAE6-9FD6-768D2088766A}"/>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80088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17A0C-C5D0-078C-7F07-ACC0034117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B98786-4792-7A97-1820-EF2D467674D5}"/>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a:extLst>
              <a:ext uri="{FF2B5EF4-FFF2-40B4-BE49-F238E27FC236}">
                <a16:creationId xmlns:a16="http://schemas.microsoft.com/office/drawing/2014/main" id="{CF82BBCA-0E4B-AC10-131C-A3719A9094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E335AF-F437-EDDC-BD41-BB7C25605EE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1852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E60874-CECE-7FA4-B8D5-D8B87BFC32F3}"/>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a:extLst>
              <a:ext uri="{FF2B5EF4-FFF2-40B4-BE49-F238E27FC236}">
                <a16:creationId xmlns:a16="http://schemas.microsoft.com/office/drawing/2014/main" id="{30478CEE-807F-E0D5-2122-8D2BD42AE7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0285FF-522D-B0F3-8D03-BB8F428C2FC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813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E748-CF32-5A8F-4E8A-FE3E7FBA1474}"/>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C79687-4267-974D-D4FE-3C5786C8D69F}"/>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43A690-CF7C-0D6F-5307-7598720A4F61}"/>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509C380C-D2AF-CAD3-B808-3AD28B23A4A4}"/>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a:extLst>
              <a:ext uri="{FF2B5EF4-FFF2-40B4-BE49-F238E27FC236}">
                <a16:creationId xmlns:a16="http://schemas.microsoft.com/office/drawing/2014/main" id="{34D8FCC9-7EE1-16F9-0293-C4BA87792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76416B-D492-496B-C2D7-5387F13FCAB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4297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4A5FF-BCCE-B543-2A6D-78DCB91151AB}"/>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E877AD-4CB6-3A90-2DAE-50516277356A}"/>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1B5A70EB-23F7-6A14-39D7-92AADFA8D4BC}"/>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1275559C-2D0B-8F23-D022-84A59ECD09D4}"/>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a:extLst>
              <a:ext uri="{FF2B5EF4-FFF2-40B4-BE49-F238E27FC236}">
                <a16:creationId xmlns:a16="http://schemas.microsoft.com/office/drawing/2014/main" id="{D54380DE-CC1A-3BF1-C0D8-C77477647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135CD3-63C1-18DD-6113-5F82FE421C7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40887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0EF2-813B-F4A1-5FB9-12399AA033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5C868A-9E26-3B08-307C-571C7A55B7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18090F-0466-CC8B-A7E6-CAB34FD10615}"/>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a:extLst>
              <a:ext uri="{FF2B5EF4-FFF2-40B4-BE49-F238E27FC236}">
                <a16:creationId xmlns:a16="http://schemas.microsoft.com/office/drawing/2014/main" id="{7C51616F-8751-2D51-D228-8753C7C50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68210B-EDB7-C50C-AC1E-8624CFD6FC5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034843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A24D3-2177-0D71-7858-2EB76B1DBCFA}"/>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C82A03-7AE2-F9A8-074D-264D6A413C17}"/>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4E92CF-EFFC-F4DF-ABE9-57836A0F5C06}"/>
              </a:ext>
            </a:extLst>
          </p:cNvPr>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a:extLst>
              <a:ext uri="{FF2B5EF4-FFF2-40B4-BE49-F238E27FC236}">
                <a16:creationId xmlns:a16="http://schemas.microsoft.com/office/drawing/2014/main" id="{36E4EAAA-264D-5FE6-D1CD-92A2485F3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329CE5-1996-B1DE-B50D-282D13AB57E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7708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4004528"/>
            <a:ext cx="6055518" cy="6282473"/>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4338521"/>
            <a:ext cx="2283618" cy="3548180"/>
          </a:xfrm>
          <a:prstGeom prst="rect">
            <a:avLst/>
          </a:prstGeom>
        </p:spPr>
      </p:pic>
      <p:sp>
        <p:nvSpPr>
          <p:cNvPr id="16" name="Oval 15"/>
          <p:cNvSpPr/>
          <p:nvPr/>
        </p:nvSpPr>
        <p:spPr>
          <a:xfrm>
            <a:off x="12913518" y="2514600"/>
            <a:ext cx="4229100" cy="42291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1999119" y="1"/>
            <a:ext cx="2405081" cy="1712111"/>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2908817" y="9144000"/>
            <a:ext cx="1490601" cy="1143000"/>
          </a:xfrm>
          <a:prstGeom prst="rect">
            <a:avLst/>
          </a:prstGeom>
        </p:spPr>
      </p:pic>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969167" y="679077"/>
            <a:ext cx="14107085" cy="2100795"/>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654969" y="3079378"/>
            <a:ext cx="13419812" cy="62932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5233459" y="2686052"/>
            <a:ext cx="1485899" cy="457199"/>
          </a:xfrm>
          <a:prstGeom prst="rect">
            <a:avLst/>
          </a:prstGeom>
        </p:spPr>
        <p:txBody>
          <a:bodyPr vert="horz" lIns="91440" tIns="45720" rIns="91440" bIns="45720" rtlCol="0" anchor="t"/>
          <a:lstStyle>
            <a:lvl1pPr algn="l">
              <a:defRPr sz="1650" b="0" i="0">
                <a:solidFill>
                  <a:schemeClr val="tx1">
                    <a:tint val="75000"/>
                    <a:alpha val="60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rot="5400000">
            <a:off x="13427360" y="4837946"/>
            <a:ext cx="5789693" cy="457202"/>
          </a:xfrm>
          <a:prstGeom prst="rect">
            <a:avLst/>
          </a:prstGeom>
        </p:spPr>
        <p:txBody>
          <a:bodyPr vert="horz" lIns="91440" tIns="45720" rIns="91440" bIns="45720" rtlCol="0" anchor="b"/>
          <a:lstStyle>
            <a:lvl1pPr algn="l">
              <a:defRPr sz="165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5528811" y="443594"/>
            <a:ext cx="1257299" cy="1151531"/>
          </a:xfrm>
          <a:prstGeom prst="rect">
            <a:avLst/>
          </a:prstGeom>
        </p:spPr>
        <p:txBody>
          <a:bodyPr vert="horz" lIns="91440" tIns="45720" rIns="91440" bIns="45720" rtlCol="0" anchor="b"/>
          <a:lstStyle>
            <a:lvl1pPr algn="ctr">
              <a:defRPr sz="4200" b="0" i="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1600296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85800" rtl="0" eaLnBrk="1" latinLnBrk="0" hangingPunct="1">
        <a:spcBef>
          <a:spcPct val="0"/>
        </a:spcBef>
        <a:buNone/>
        <a:defRPr sz="63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bg2">
            <a:lumMod val="40000"/>
            <a:lumOff val="60000"/>
          </a:schemeClr>
        </a:buClr>
        <a:buSzPct val="80000"/>
        <a:buFont typeface="Wingdings 3" charset="2"/>
        <a:buChar char=""/>
        <a:defRPr sz="3000" b="0" i="0" kern="1200">
          <a:solidFill>
            <a:schemeClr val="tx1"/>
          </a:solidFill>
          <a:latin typeface="+mj-lt"/>
          <a:ea typeface="+mj-ea"/>
          <a:cs typeface="+mj-cs"/>
        </a:defRPr>
      </a:lvl1pPr>
      <a:lvl2pPr marL="1114425" indent="-428625" algn="l" defTabSz="685800" rtl="0" eaLnBrk="1" latinLnBrk="0" hangingPunct="1">
        <a:spcBef>
          <a:spcPts val="1500"/>
        </a:spcBef>
        <a:spcAft>
          <a:spcPts val="0"/>
        </a:spcAft>
        <a:buClr>
          <a:schemeClr val="bg2">
            <a:lumMod val="40000"/>
            <a:lumOff val="60000"/>
          </a:schemeClr>
        </a:buClr>
        <a:buSzPct val="80000"/>
        <a:buFont typeface="Wingdings 3" charset="2"/>
        <a:buChar char=""/>
        <a:defRPr sz="2700" b="0" i="0" kern="1200">
          <a:solidFill>
            <a:schemeClr val="tx1"/>
          </a:solidFill>
          <a:latin typeface="+mj-lt"/>
          <a:ea typeface="+mj-ea"/>
          <a:cs typeface="+mj-cs"/>
        </a:defRPr>
      </a:lvl2pPr>
      <a:lvl3pPr marL="17145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3pPr>
      <a:lvl4pPr marL="24003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4pPr>
      <a:lvl5pPr marL="30861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5pPr>
      <a:lvl6pPr marL="37590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6pPr>
      <a:lvl7pPr marL="44577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7pPr>
      <a:lvl8pPr marL="51435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8pPr>
      <a:lvl9pPr marL="58293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1ECA87-8947-9845-426C-BBD6D727F96E}"/>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875254-2269-1863-880B-C4F2027DFF18}"/>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A5360-9671-7AEB-BE98-A22AFA1BC04D}"/>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11/18/2025</a:t>
            </a:fld>
            <a:endParaRPr lang="en-US"/>
          </a:p>
        </p:txBody>
      </p:sp>
      <p:sp>
        <p:nvSpPr>
          <p:cNvPr id="5" name="Footer Placeholder 4">
            <a:extLst>
              <a:ext uri="{FF2B5EF4-FFF2-40B4-BE49-F238E27FC236}">
                <a16:creationId xmlns:a16="http://schemas.microsoft.com/office/drawing/2014/main" id="{1A88820E-224C-428F-9B78-E1E1E53FD585}"/>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13E66C-83CD-F791-310A-DCBED7109D0A}"/>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1433853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18" Type="http://schemas.openxmlformats.org/officeDocument/2006/relationships/image" Target="../media/image22.svg"/><Relationship Id="rId26" Type="http://schemas.openxmlformats.org/officeDocument/2006/relationships/image" Target="../media/image30.sv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svg"/><Relationship Id="rId20"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24" Type="http://schemas.openxmlformats.org/officeDocument/2006/relationships/image" Target="../media/image28.sv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svg"/><Relationship Id="rId19" Type="http://schemas.openxmlformats.org/officeDocument/2006/relationships/image" Target="../media/image23.pn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 Id="rId22" Type="http://schemas.openxmlformats.org/officeDocument/2006/relationships/image" Target="../media/image26.svg"/><Relationship Id="rId27" Type="http://schemas.openxmlformats.org/officeDocument/2006/relationships/image" Target="../media/image31.png"/></Relationships>
</file>

<file path=ppt/slides/_rels/slide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 Id="rId9" Type="http://schemas.openxmlformats.org/officeDocument/2006/relationships/image" Target="../media/image31.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31.png"/><Relationship Id="rId3" Type="http://schemas.openxmlformats.org/officeDocument/2006/relationships/image" Target="../media/image38.png"/><Relationship Id="rId7" Type="http://schemas.openxmlformats.org/officeDocument/2006/relationships/image" Target="../media/image7.png"/><Relationship Id="rId12" Type="http://schemas.openxmlformats.org/officeDocument/2006/relationships/image" Target="../media/image41.svg"/><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media/image14.svg"/><Relationship Id="rId11" Type="http://schemas.openxmlformats.org/officeDocument/2006/relationships/image" Target="../media/image40.png"/><Relationship Id="rId5" Type="http://schemas.openxmlformats.org/officeDocument/2006/relationships/image" Target="../media/image13.png"/><Relationship Id="rId10" Type="http://schemas.openxmlformats.org/officeDocument/2006/relationships/image" Target="../media/image28.svg"/><Relationship Id="rId4" Type="http://schemas.openxmlformats.org/officeDocument/2006/relationships/image" Target="../media/image39.svg"/><Relationship Id="rId9"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31.png"/><Relationship Id="rId3" Type="http://schemas.openxmlformats.org/officeDocument/2006/relationships/image" Target="../media/image13.png"/><Relationship Id="rId7" Type="http://schemas.openxmlformats.org/officeDocument/2006/relationships/image" Target="../media/image38.png"/><Relationship Id="rId12" Type="http://schemas.openxmlformats.org/officeDocument/2006/relationships/image" Target="../media/image45.svg"/><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media/image33.svg"/><Relationship Id="rId11" Type="http://schemas.openxmlformats.org/officeDocument/2006/relationships/image" Target="../media/image44.png"/><Relationship Id="rId5" Type="http://schemas.openxmlformats.org/officeDocument/2006/relationships/image" Target="../media/image32.png"/><Relationship Id="rId10" Type="http://schemas.openxmlformats.org/officeDocument/2006/relationships/image" Target="../media/image43.svg"/><Relationship Id="rId4" Type="http://schemas.openxmlformats.org/officeDocument/2006/relationships/image" Target="../media/image14.svg"/><Relationship Id="rId9" Type="http://schemas.openxmlformats.org/officeDocument/2006/relationships/image" Target="../media/image42.png"/><Relationship Id="rId14" Type="http://schemas.openxmlformats.org/officeDocument/2006/relationships/image" Target="../media/image46.jpeg"/></Relationships>
</file>

<file path=ppt/slides/_rels/slide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6.png"/><Relationship Id="rId7" Type="http://schemas.openxmlformats.org/officeDocument/2006/relationships/image" Target="../media/image14.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svg"/><Relationship Id="rId10" Type="http://schemas.openxmlformats.org/officeDocument/2006/relationships/image" Target="../media/image31.png"/><Relationship Id="rId4" Type="http://schemas.openxmlformats.org/officeDocument/2006/relationships/image" Target="../media/image7.png"/><Relationship Id="rId9" Type="http://schemas.openxmlformats.org/officeDocument/2006/relationships/image" Target="../media/image48.svg"/></Relationships>
</file>

<file path=ppt/slides/_rels/slide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6.pn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svg"/><Relationship Id="rId10" Type="http://schemas.openxmlformats.org/officeDocument/2006/relationships/image" Target="../media/image31.png"/><Relationship Id="rId4" Type="http://schemas.openxmlformats.org/officeDocument/2006/relationships/image" Target="../media/image7.png"/><Relationship Id="rId9" Type="http://schemas.openxmlformats.org/officeDocument/2006/relationships/image" Target="../media/image48.svg"/></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 Id="rId9" Type="http://schemas.openxmlformats.org/officeDocument/2006/relationships/image" Target="../media/image49.jpeg"/></Relationships>
</file>

<file path=ppt/slides/_rels/slide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50.jpeg"/><Relationship Id="rId4" Type="http://schemas.openxmlformats.org/officeDocument/2006/relationships/image" Target="../media/image8.sv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51.jpeg"/><Relationship Id="rId4" Type="http://schemas.openxmlformats.org/officeDocument/2006/relationships/image" Target="../media/image8.svg"/><Relationship Id="rId9"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hyperlink" Target="https://github.com/bblanchon/ArduinoJson" TargetMode="External"/><Relationship Id="rId3" Type="http://schemas.openxmlformats.org/officeDocument/2006/relationships/image" Target="../media/image7.png"/><Relationship Id="rId7" Type="http://schemas.openxmlformats.org/officeDocument/2006/relationships/image" Target="../media/image47.png"/><Relationship Id="rId12" Type="http://schemas.openxmlformats.org/officeDocument/2006/relationships/hyperlink" Target="https://github.com/Links2004/arduinoWebSockets"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hyperlink" Target="https://sinricpro.github.io/esp8266-esp32-sdk/" TargetMode="External"/><Relationship Id="rId5" Type="http://schemas.openxmlformats.org/officeDocument/2006/relationships/image" Target="../media/image13.png"/><Relationship Id="rId15" Type="http://schemas.openxmlformats.org/officeDocument/2006/relationships/hyperlink" Target="https://github.com/nenpece0236-droid/Automation-code.git" TargetMode="External"/><Relationship Id="rId10" Type="http://schemas.openxmlformats.org/officeDocument/2006/relationships/hyperlink" Target="https://github.com/esp8266/Arduino" TargetMode="External"/><Relationship Id="rId4" Type="http://schemas.openxmlformats.org/officeDocument/2006/relationships/image" Target="../media/image8.svg"/><Relationship Id="rId9" Type="http://schemas.openxmlformats.org/officeDocument/2006/relationships/image" Target="../media/image31.png"/><Relationship Id="rId14" Type="http://schemas.openxmlformats.org/officeDocument/2006/relationships/hyperlink" Target="https://github.com/sinricpro/esp8266-esp32-sdk/blob/master/README.md"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31.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5.svg"/><Relationship Id="rId11" Type="http://schemas.openxmlformats.org/officeDocument/2006/relationships/image" Target="../media/image19.pn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IN"/>
          </a:p>
        </p:txBody>
      </p:sp>
      <p:sp>
        <p:nvSpPr>
          <p:cNvPr id="3" name="Freeform 3"/>
          <p:cNvSpPr/>
          <p:nvPr/>
        </p:nvSpPr>
        <p:spPr>
          <a:xfrm rot="3649572">
            <a:off x="13905010" y="4377341"/>
            <a:ext cx="7530117" cy="6918465"/>
          </a:xfrm>
          <a:custGeom>
            <a:avLst/>
            <a:gdLst/>
            <a:ahLst/>
            <a:cxnLst/>
            <a:rect l="l" t="t" r="r" b="b"/>
            <a:pathLst>
              <a:path w="7530117" h="6918465">
                <a:moveTo>
                  <a:pt x="0" y="0"/>
                </a:moveTo>
                <a:lnTo>
                  <a:pt x="7530117" y="0"/>
                </a:lnTo>
                <a:lnTo>
                  <a:pt x="7530117" y="6918466"/>
                </a:lnTo>
                <a:lnTo>
                  <a:pt x="0" y="69184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0762584" y="7040557"/>
            <a:ext cx="3941664" cy="1666354"/>
          </a:xfrm>
          <a:prstGeom prst="rect">
            <a:avLst/>
          </a:prstGeom>
        </p:spPr>
        <p:txBody>
          <a:bodyPr wrap="square" lIns="0" tIns="0" rIns="0" bIns="0" rtlCol="0" anchor="t">
            <a:spAutoFit/>
          </a:bodyPr>
          <a:lstStyle/>
          <a:p>
            <a:pPr>
              <a:lnSpc>
                <a:spcPts val="4499"/>
              </a:lnSpc>
            </a:pPr>
            <a:r>
              <a:rPr lang="en-US" sz="2999" spc="59">
                <a:solidFill>
                  <a:schemeClr val="bg1"/>
                </a:solidFill>
                <a:latin typeface="Agrandir"/>
                <a:ea typeface="Agrandir"/>
                <a:cs typeface="Agrandir"/>
                <a:sym typeface="Agrandir"/>
              </a:rPr>
              <a:t>SUBMITTED TO :              </a:t>
            </a:r>
            <a:r>
              <a:rPr lang="en-IN" sz="2400" b="1">
                <a:solidFill>
                  <a:schemeClr val="bg1"/>
                </a:solidFill>
              </a:rPr>
              <a:t>Dr KRISHNA CHENNAKESAVA RAO</a:t>
            </a:r>
            <a:endParaRPr lang="en-US" sz="2400" spc="59">
              <a:solidFill>
                <a:schemeClr val="bg1"/>
              </a:solidFill>
              <a:latin typeface="Agrandir"/>
              <a:ea typeface="Agrandir"/>
              <a:cs typeface="Agrandir"/>
              <a:sym typeface="Agrandir"/>
            </a:endParaRPr>
          </a:p>
        </p:txBody>
      </p:sp>
      <p:sp>
        <p:nvSpPr>
          <p:cNvPr id="5" name="Freeform 5"/>
          <p:cNvSpPr/>
          <p:nvPr/>
        </p:nvSpPr>
        <p:spPr>
          <a:xfrm rot="-6802992">
            <a:off x="-1245989" y="-3362067"/>
            <a:ext cx="6320685" cy="6724133"/>
          </a:xfrm>
          <a:custGeom>
            <a:avLst/>
            <a:gdLst/>
            <a:ahLst/>
            <a:cxnLst/>
            <a:rect l="l" t="t" r="r" b="b"/>
            <a:pathLst>
              <a:path w="6320685" h="6724133">
                <a:moveTo>
                  <a:pt x="0" y="0"/>
                </a:moveTo>
                <a:lnTo>
                  <a:pt x="6320685" y="0"/>
                </a:lnTo>
                <a:lnTo>
                  <a:pt x="6320685" y="6724134"/>
                </a:lnTo>
                <a:lnTo>
                  <a:pt x="0" y="67241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4728116" y="6015904"/>
            <a:ext cx="3941664" cy="3662164"/>
          </a:xfrm>
          <a:custGeom>
            <a:avLst/>
            <a:gdLst/>
            <a:ahLst/>
            <a:cxnLst/>
            <a:rect l="l" t="t" r="r" b="b"/>
            <a:pathLst>
              <a:path w="3941664" h="3662164">
                <a:moveTo>
                  <a:pt x="0" y="0"/>
                </a:moveTo>
                <a:lnTo>
                  <a:pt x="3941663" y="0"/>
                </a:lnTo>
                <a:lnTo>
                  <a:pt x="3941663" y="3662164"/>
                </a:lnTo>
                <a:lnTo>
                  <a:pt x="0" y="36621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5382868" y="8694512"/>
            <a:ext cx="2656101" cy="2574003"/>
          </a:xfrm>
          <a:custGeom>
            <a:avLst/>
            <a:gdLst/>
            <a:ahLst/>
            <a:cxnLst/>
            <a:rect l="l" t="t" r="r" b="b"/>
            <a:pathLst>
              <a:path w="2656101" h="2574003">
                <a:moveTo>
                  <a:pt x="0" y="0"/>
                </a:moveTo>
                <a:lnTo>
                  <a:pt x="2656101" y="0"/>
                </a:lnTo>
                <a:lnTo>
                  <a:pt x="2656101" y="2574003"/>
                </a:lnTo>
                <a:lnTo>
                  <a:pt x="0" y="257400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3454998" y="5279153"/>
            <a:ext cx="6249851" cy="5742191"/>
          </a:xfrm>
          <a:custGeom>
            <a:avLst/>
            <a:gdLst/>
            <a:ahLst/>
            <a:cxnLst/>
            <a:rect l="l" t="t" r="r" b="b"/>
            <a:pathLst>
              <a:path w="6249851" h="5742191">
                <a:moveTo>
                  <a:pt x="0" y="0"/>
                </a:moveTo>
                <a:lnTo>
                  <a:pt x="6249850" y="0"/>
                </a:lnTo>
                <a:lnTo>
                  <a:pt x="6249850" y="5742191"/>
                </a:lnTo>
                <a:lnTo>
                  <a:pt x="0" y="574219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Freeform 9"/>
          <p:cNvSpPr/>
          <p:nvPr/>
        </p:nvSpPr>
        <p:spPr>
          <a:xfrm rot="2237146">
            <a:off x="-315172" y="6923252"/>
            <a:ext cx="4459052" cy="3210518"/>
          </a:xfrm>
          <a:custGeom>
            <a:avLst/>
            <a:gdLst/>
            <a:ahLst/>
            <a:cxnLst/>
            <a:rect l="l" t="t" r="r" b="b"/>
            <a:pathLst>
              <a:path w="4459052" h="3210518">
                <a:moveTo>
                  <a:pt x="0" y="0"/>
                </a:moveTo>
                <a:lnTo>
                  <a:pt x="4459052" y="0"/>
                </a:lnTo>
                <a:lnTo>
                  <a:pt x="4459052" y="3210518"/>
                </a:lnTo>
                <a:lnTo>
                  <a:pt x="0" y="321051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 name="Freeform 10"/>
          <p:cNvSpPr/>
          <p:nvPr/>
        </p:nvSpPr>
        <p:spPr>
          <a:xfrm>
            <a:off x="9021057" y="-1370502"/>
            <a:ext cx="2656101" cy="2574003"/>
          </a:xfrm>
          <a:custGeom>
            <a:avLst/>
            <a:gdLst/>
            <a:ahLst/>
            <a:cxnLst/>
            <a:rect l="l" t="t" r="r" b="b"/>
            <a:pathLst>
              <a:path w="2656101" h="2574003">
                <a:moveTo>
                  <a:pt x="0" y="0"/>
                </a:moveTo>
                <a:lnTo>
                  <a:pt x="2656101" y="0"/>
                </a:lnTo>
                <a:lnTo>
                  <a:pt x="2656101" y="2574004"/>
                </a:lnTo>
                <a:lnTo>
                  <a:pt x="0" y="257400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1" name="Freeform 11"/>
          <p:cNvSpPr/>
          <p:nvPr/>
        </p:nvSpPr>
        <p:spPr>
          <a:xfrm rot="7670037">
            <a:off x="13383024" y="-2542762"/>
            <a:ext cx="5974748" cy="5489435"/>
          </a:xfrm>
          <a:custGeom>
            <a:avLst/>
            <a:gdLst/>
            <a:ahLst/>
            <a:cxnLst/>
            <a:rect l="l" t="t" r="r" b="b"/>
            <a:pathLst>
              <a:path w="5974748" h="5489435">
                <a:moveTo>
                  <a:pt x="0" y="0"/>
                </a:moveTo>
                <a:lnTo>
                  <a:pt x="5974748" y="0"/>
                </a:lnTo>
                <a:lnTo>
                  <a:pt x="5974748" y="5489435"/>
                </a:lnTo>
                <a:lnTo>
                  <a:pt x="0" y="54894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Freeform 12"/>
          <p:cNvSpPr/>
          <p:nvPr/>
        </p:nvSpPr>
        <p:spPr>
          <a:xfrm>
            <a:off x="13767542" y="-372656"/>
            <a:ext cx="3902526" cy="3235549"/>
          </a:xfrm>
          <a:custGeom>
            <a:avLst/>
            <a:gdLst/>
            <a:ahLst/>
            <a:cxnLst/>
            <a:rect l="l" t="t" r="r" b="b"/>
            <a:pathLst>
              <a:path w="3902526" h="3235549">
                <a:moveTo>
                  <a:pt x="0" y="0"/>
                </a:moveTo>
                <a:lnTo>
                  <a:pt x="3902526" y="0"/>
                </a:lnTo>
                <a:lnTo>
                  <a:pt x="3902526" y="3235549"/>
                </a:lnTo>
                <a:lnTo>
                  <a:pt x="0" y="323554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3" name="Freeform 13"/>
          <p:cNvSpPr/>
          <p:nvPr/>
        </p:nvSpPr>
        <p:spPr>
          <a:xfrm rot="-1789354">
            <a:off x="575474" y="-347429"/>
            <a:ext cx="2725139" cy="3833315"/>
          </a:xfrm>
          <a:custGeom>
            <a:avLst/>
            <a:gdLst/>
            <a:ahLst/>
            <a:cxnLst/>
            <a:rect l="l" t="t" r="r" b="b"/>
            <a:pathLst>
              <a:path w="2725139" h="3833315">
                <a:moveTo>
                  <a:pt x="0" y="0"/>
                </a:moveTo>
                <a:lnTo>
                  <a:pt x="2725139" y="0"/>
                </a:lnTo>
                <a:lnTo>
                  <a:pt x="2725139" y="3833316"/>
                </a:lnTo>
                <a:lnTo>
                  <a:pt x="0" y="383331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4" name="Freeform 14"/>
          <p:cNvSpPr/>
          <p:nvPr/>
        </p:nvSpPr>
        <p:spPr>
          <a:xfrm>
            <a:off x="5833552" y="-1855444"/>
            <a:ext cx="4515556" cy="4114800"/>
          </a:xfrm>
          <a:custGeom>
            <a:avLst/>
            <a:gdLst/>
            <a:ahLst/>
            <a:cxnLst/>
            <a:rect l="l" t="t" r="r" b="b"/>
            <a:pathLst>
              <a:path w="4515556" h="4114800">
                <a:moveTo>
                  <a:pt x="0" y="0"/>
                </a:moveTo>
                <a:lnTo>
                  <a:pt x="4515555" y="0"/>
                </a:lnTo>
                <a:lnTo>
                  <a:pt x="4515555" y="4114800"/>
                </a:lnTo>
                <a:lnTo>
                  <a:pt x="0" y="411480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5" name="TextBox 15"/>
          <p:cNvSpPr txBox="1"/>
          <p:nvPr/>
        </p:nvSpPr>
        <p:spPr>
          <a:xfrm>
            <a:off x="4173663" y="2558093"/>
            <a:ext cx="5144759" cy="941925"/>
          </a:xfrm>
          <a:prstGeom prst="rect">
            <a:avLst/>
          </a:prstGeom>
        </p:spPr>
        <p:txBody>
          <a:bodyPr lIns="0" tIns="0" rIns="0" bIns="0" rtlCol="0" anchor="t">
            <a:spAutoFit/>
          </a:bodyPr>
          <a:lstStyle/>
          <a:p>
            <a:pPr marL="0" lvl="0" indent="0" algn="l">
              <a:lnSpc>
                <a:spcPts val="7928"/>
              </a:lnSpc>
              <a:spcBef>
                <a:spcPct val="0"/>
              </a:spcBef>
            </a:pPr>
            <a:r>
              <a:rPr lang="en-US" sz="5285" spc="105">
                <a:solidFill>
                  <a:srgbClr val="000000"/>
                </a:solidFill>
                <a:latin typeface="Agrandir"/>
                <a:ea typeface="Agrandir"/>
                <a:cs typeface="Agrandir"/>
                <a:sym typeface="Agrandir"/>
              </a:rPr>
              <a:t>BATCH - 5</a:t>
            </a:r>
          </a:p>
        </p:txBody>
      </p:sp>
      <p:sp>
        <p:nvSpPr>
          <p:cNvPr id="16" name="TextBox 16"/>
          <p:cNvSpPr txBox="1"/>
          <p:nvPr/>
        </p:nvSpPr>
        <p:spPr>
          <a:xfrm>
            <a:off x="3227208" y="3816135"/>
            <a:ext cx="13321775" cy="2955553"/>
          </a:xfrm>
          <a:prstGeom prst="rect">
            <a:avLst/>
          </a:prstGeom>
        </p:spPr>
        <p:txBody>
          <a:bodyPr wrap="square" lIns="0" tIns="0" rIns="0" bIns="0" rtlCol="0" anchor="t">
            <a:spAutoFit/>
          </a:bodyPr>
          <a:lstStyle/>
          <a:p>
            <a:pPr lvl="0" algn="ctr">
              <a:lnSpc>
                <a:spcPts val="12108"/>
              </a:lnSpc>
            </a:pPr>
            <a:r>
              <a:rPr lang="en-US" sz="9600">
                <a:solidFill>
                  <a:schemeClr val="bg1"/>
                </a:solidFill>
                <a:latin typeface="Gagalin" panose="020B0604020202020204" charset="0"/>
              </a:rPr>
              <a:t>DESIGN THINKING AND ENGINEERING ORIENTATION </a:t>
            </a:r>
            <a:endParaRPr lang="en-US" sz="12355" spc="247">
              <a:solidFill>
                <a:schemeClr val="bg1"/>
              </a:solidFill>
              <a:latin typeface="Gagalin" panose="020B0604020202020204" charset="0"/>
              <a:ea typeface="Gagalin"/>
              <a:cs typeface="Gagalin"/>
              <a:sym typeface="Gagalin"/>
            </a:endParaRPr>
          </a:p>
        </p:txBody>
      </p:sp>
      <p:sp>
        <p:nvSpPr>
          <p:cNvPr id="20" name="Freeform 20"/>
          <p:cNvSpPr/>
          <p:nvPr/>
        </p:nvSpPr>
        <p:spPr>
          <a:xfrm>
            <a:off x="6115669" y="9157421"/>
            <a:ext cx="3028331" cy="3997797"/>
          </a:xfrm>
          <a:custGeom>
            <a:avLst/>
            <a:gdLst/>
            <a:ahLst/>
            <a:cxnLst/>
            <a:rect l="l" t="t" r="r" b="b"/>
            <a:pathLst>
              <a:path w="3028331" h="3997797">
                <a:moveTo>
                  <a:pt x="0" y="0"/>
                </a:moveTo>
                <a:lnTo>
                  <a:pt x="3028331" y="0"/>
                </a:lnTo>
                <a:lnTo>
                  <a:pt x="3028331" y="3997797"/>
                </a:lnTo>
                <a:lnTo>
                  <a:pt x="0" y="399779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1" name="Freeform 21"/>
          <p:cNvSpPr/>
          <p:nvPr/>
        </p:nvSpPr>
        <p:spPr>
          <a:xfrm>
            <a:off x="11677158" y="1028700"/>
            <a:ext cx="1577381" cy="1528625"/>
          </a:xfrm>
          <a:custGeom>
            <a:avLst/>
            <a:gdLst/>
            <a:ahLst/>
            <a:cxnLst/>
            <a:rect l="l" t="t" r="r" b="b"/>
            <a:pathLst>
              <a:path w="1577381" h="1528625">
                <a:moveTo>
                  <a:pt x="0" y="0"/>
                </a:moveTo>
                <a:lnTo>
                  <a:pt x="1577381" y="0"/>
                </a:lnTo>
                <a:lnTo>
                  <a:pt x="1577381" y="1528625"/>
                </a:lnTo>
                <a:lnTo>
                  <a:pt x="0" y="15286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2" name="Freeform 22"/>
          <p:cNvSpPr/>
          <p:nvPr/>
        </p:nvSpPr>
        <p:spPr>
          <a:xfrm rot="4065037">
            <a:off x="11095644" y="9610088"/>
            <a:ext cx="2417198" cy="2342484"/>
          </a:xfrm>
          <a:custGeom>
            <a:avLst/>
            <a:gdLst/>
            <a:ahLst/>
            <a:cxnLst/>
            <a:rect l="l" t="t" r="r" b="b"/>
            <a:pathLst>
              <a:path w="2417198" h="2342484">
                <a:moveTo>
                  <a:pt x="0" y="0"/>
                </a:moveTo>
                <a:lnTo>
                  <a:pt x="2417198" y="0"/>
                </a:lnTo>
                <a:lnTo>
                  <a:pt x="2417198" y="2342484"/>
                </a:lnTo>
                <a:lnTo>
                  <a:pt x="0" y="2342484"/>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pic>
        <p:nvPicPr>
          <p:cNvPr id="23" name="Picture 22" descr="A close up of a logo">
            <a:extLst>
              <a:ext uri="{FF2B5EF4-FFF2-40B4-BE49-F238E27FC236}">
                <a16:creationId xmlns:a16="http://schemas.microsoft.com/office/drawing/2014/main" id="{C82C0AB9-DF16-9B39-6072-C59DD74B2B55}"/>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203328" y="31693"/>
            <a:ext cx="6218176" cy="2175172"/>
          </a:xfrm>
          <a:prstGeom prst="rect">
            <a:avLst/>
          </a:prstGeom>
          <a:effectLst>
            <a:outerShdw blurRad="50800" dist="50800" dir="5400000" algn="ctr" rotWithShape="0">
              <a:srgbClr val="000000"/>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9001677">
            <a:off x="-3456345" y="5990278"/>
            <a:ext cx="6912691" cy="7353926"/>
          </a:xfrm>
          <a:custGeom>
            <a:avLst/>
            <a:gdLst/>
            <a:ahLst/>
            <a:cxnLst/>
            <a:rect l="l" t="t" r="r" b="b"/>
            <a:pathLst>
              <a:path w="6912691" h="7353926">
                <a:moveTo>
                  <a:pt x="0" y="0"/>
                </a:moveTo>
                <a:lnTo>
                  <a:pt x="6912690" y="0"/>
                </a:lnTo>
                <a:lnTo>
                  <a:pt x="6912690" y="7353927"/>
                </a:lnTo>
                <a:lnTo>
                  <a:pt x="0" y="73539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3145969" y="-2716135"/>
            <a:ext cx="9738642" cy="9384510"/>
          </a:xfrm>
          <a:custGeom>
            <a:avLst/>
            <a:gdLst/>
            <a:ahLst/>
            <a:cxnLst/>
            <a:rect l="l" t="t" r="r" b="b"/>
            <a:pathLst>
              <a:path w="9738642" h="9384510">
                <a:moveTo>
                  <a:pt x="0" y="0"/>
                </a:moveTo>
                <a:lnTo>
                  <a:pt x="9738642" y="0"/>
                </a:lnTo>
                <a:lnTo>
                  <a:pt x="9738642" y="9384510"/>
                </a:lnTo>
                <a:lnTo>
                  <a:pt x="0" y="93845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1093412">
            <a:off x="14315174" y="14176"/>
            <a:ext cx="4439711" cy="4017939"/>
          </a:xfrm>
          <a:custGeom>
            <a:avLst/>
            <a:gdLst/>
            <a:ahLst/>
            <a:cxnLst/>
            <a:rect l="l" t="t" r="r" b="b"/>
            <a:pathLst>
              <a:path w="4439711" h="4017939">
                <a:moveTo>
                  <a:pt x="0" y="0"/>
                </a:moveTo>
                <a:lnTo>
                  <a:pt x="4439711" y="0"/>
                </a:lnTo>
                <a:lnTo>
                  <a:pt x="4439711" y="4017939"/>
                </a:lnTo>
                <a:lnTo>
                  <a:pt x="0" y="40179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TextBox 20"/>
          <p:cNvSpPr txBox="1"/>
          <p:nvPr/>
        </p:nvSpPr>
        <p:spPr>
          <a:xfrm>
            <a:off x="1028700" y="747395"/>
            <a:ext cx="16230600" cy="1231106"/>
          </a:xfrm>
          <a:prstGeom prst="rect">
            <a:avLst/>
          </a:prstGeom>
        </p:spPr>
        <p:txBody>
          <a:bodyPr lIns="0" tIns="0" rIns="0" bIns="0" rtlCol="0" anchor="t">
            <a:spAutoFit/>
          </a:bodyPr>
          <a:lstStyle/>
          <a:p>
            <a:pPr marL="0" lvl="0" indent="0" algn="l">
              <a:lnSpc>
                <a:spcPts val="9600"/>
              </a:lnSpc>
              <a:spcBef>
                <a:spcPct val="0"/>
              </a:spcBef>
            </a:pPr>
            <a:r>
              <a:rPr lang="en-US" sz="8000" spc="160">
                <a:solidFill>
                  <a:srgbClr val="000000"/>
                </a:solidFill>
                <a:latin typeface="Gagalin"/>
                <a:ea typeface="Gagalin"/>
                <a:cs typeface="Gagalin"/>
                <a:sym typeface="Gagalin"/>
              </a:rPr>
              <a:t>Batch members</a:t>
            </a:r>
          </a:p>
        </p:txBody>
      </p:sp>
      <p:graphicFrame>
        <p:nvGraphicFramePr>
          <p:cNvPr id="27" name="Table 26">
            <a:extLst>
              <a:ext uri="{FF2B5EF4-FFF2-40B4-BE49-F238E27FC236}">
                <a16:creationId xmlns:a16="http://schemas.microsoft.com/office/drawing/2014/main" id="{0E80E1CB-D456-C5F6-75E1-D9AA44FD6603}"/>
              </a:ext>
            </a:extLst>
          </p:cNvPr>
          <p:cNvGraphicFramePr>
            <a:graphicFrameLocks noGrp="1"/>
          </p:cNvGraphicFramePr>
          <p:nvPr>
            <p:extLst>
              <p:ext uri="{D42A27DB-BD31-4B8C-83A1-F6EECF244321}">
                <p14:modId xmlns:p14="http://schemas.microsoft.com/office/powerpoint/2010/main" val="79577336"/>
              </p:ext>
            </p:extLst>
          </p:nvPr>
        </p:nvGraphicFramePr>
        <p:xfrm>
          <a:off x="4487870" y="3467100"/>
          <a:ext cx="8337830" cy="3429000"/>
        </p:xfrm>
        <a:graphic>
          <a:graphicData uri="http://schemas.openxmlformats.org/drawingml/2006/table">
            <a:tbl>
              <a:tblPr firstRow="1" bandRow="1">
                <a:effectLst>
                  <a:outerShdw blurRad="63500" sx="102000" sy="102000" algn="ctr" rotWithShape="0">
                    <a:prstClr val="black">
                      <a:alpha val="40000"/>
                    </a:prstClr>
                  </a:outerShdw>
                </a:effectLst>
                <a:tableStyleId>{2D5ABB26-0587-4C30-8999-92F81FD0307C}</a:tableStyleId>
              </a:tblPr>
              <a:tblGrid>
                <a:gridCol w="4168915">
                  <a:extLst>
                    <a:ext uri="{9D8B030D-6E8A-4147-A177-3AD203B41FA5}">
                      <a16:colId xmlns:a16="http://schemas.microsoft.com/office/drawing/2014/main" val="3176156057"/>
                    </a:ext>
                  </a:extLst>
                </a:gridCol>
                <a:gridCol w="4168915">
                  <a:extLst>
                    <a:ext uri="{9D8B030D-6E8A-4147-A177-3AD203B41FA5}">
                      <a16:colId xmlns:a16="http://schemas.microsoft.com/office/drawing/2014/main" val="2947358657"/>
                    </a:ext>
                  </a:extLst>
                </a:gridCol>
              </a:tblGrid>
              <a:tr h="548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b="1">
                          <a:solidFill>
                            <a:schemeClr val="bg1"/>
                          </a:solidFill>
                        </a:rPr>
                        <a:t>241FA05042</a:t>
                      </a:r>
                      <a:endParaRPr lang="en-IN" sz="2700" b="1">
                        <a:solidFill>
                          <a:schemeClr val="bg1"/>
                        </a:solidFill>
                      </a:endParaRPr>
                    </a:p>
                  </a:txBody>
                  <a:tcPr marL="137160" marR="137160" marT="68580" marB="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700" b="1">
                          <a:solidFill>
                            <a:schemeClr val="bg1"/>
                          </a:solidFill>
                        </a:rPr>
                        <a:t>S.GANESH ANIRUDH</a:t>
                      </a:r>
                      <a:endParaRPr lang="en-IN" sz="2700" b="1">
                        <a:solidFill>
                          <a:schemeClr val="bg1"/>
                        </a:solidFill>
                      </a:endParaRPr>
                    </a:p>
                  </a:txBody>
                  <a:tcPr marL="137160" marR="137160" marT="68580" marB="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049887"/>
                  </a:ext>
                </a:extLst>
              </a:tr>
              <a:tr h="960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b="1">
                          <a:solidFill>
                            <a:schemeClr val="bg1"/>
                          </a:solidFill>
                        </a:rPr>
                        <a:t>241FA05043</a:t>
                      </a:r>
                      <a:endParaRPr lang="en-IN" sz="2700" b="1">
                        <a:solidFill>
                          <a:schemeClr val="bg1"/>
                        </a:solidFill>
                      </a:endParaRPr>
                    </a:p>
                  </a:txBody>
                  <a:tcPr marL="137160" marR="137160" marT="68580" marB="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700" b="1">
                          <a:solidFill>
                            <a:schemeClr val="bg1"/>
                          </a:solidFill>
                        </a:rPr>
                        <a:t>R.THARUN</a:t>
                      </a:r>
                      <a:endParaRPr lang="en-IN" sz="2700" b="1">
                        <a:solidFill>
                          <a:schemeClr val="bg1"/>
                        </a:solidFill>
                      </a:endParaRPr>
                    </a:p>
                  </a:txBody>
                  <a:tcPr marL="137160" marR="137160" marT="68580" marB="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025994"/>
                  </a:ext>
                </a:extLst>
              </a:tr>
              <a:tr h="960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b="1">
                          <a:solidFill>
                            <a:schemeClr val="bg1"/>
                          </a:solidFill>
                        </a:rPr>
                        <a:t>241FA05053</a:t>
                      </a:r>
                      <a:endParaRPr lang="en-IN" sz="2700" b="1">
                        <a:solidFill>
                          <a:schemeClr val="bg1"/>
                        </a:solidFill>
                      </a:endParaRPr>
                    </a:p>
                  </a:txBody>
                  <a:tcPr marL="137160" marR="137160" marT="68580" marB="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700" b="1">
                          <a:solidFill>
                            <a:schemeClr val="bg1"/>
                          </a:solidFill>
                        </a:rPr>
                        <a:t>A.SANJAY VENKAT</a:t>
                      </a:r>
                      <a:endParaRPr lang="en-IN" sz="2700" b="1">
                        <a:solidFill>
                          <a:schemeClr val="bg1"/>
                        </a:solidFill>
                      </a:endParaRPr>
                    </a:p>
                  </a:txBody>
                  <a:tcPr marL="137160" marR="137160" marT="68580" marB="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2911359"/>
                  </a:ext>
                </a:extLst>
              </a:tr>
              <a:tr h="960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700" b="1">
                          <a:solidFill>
                            <a:schemeClr val="bg1"/>
                          </a:solidFill>
                        </a:rPr>
                        <a:t>251LA05002</a:t>
                      </a:r>
                      <a:endParaRPr lang="en-IN" sz="2700" b="1">
                        <a:solidFill>
                          <a:schemeClr val="bg1"/>
                        </a:solidFill>
                      </a:endParaRPr>
                    </a:p>
                  </a:txBody>
                  <a:tcPr marL="137160" marR="137160" marT="68580" marB="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700" b="1">
                          <a:solidFill>
                            <a:schemeClr val="bg1"/>
                          </a:solidFill>
                        </a:rPr>
                        <a:t>N.ESHWAR NAGA PAVAN</a:t>
                      </a:r>
                      <a:endParaRPr lang="en-IN" sz="2700" b="1">
                        <a:solidFill>
                          <a:schemeClr val="bg1"/>
                        </a:solidFill>
                      </a:endParaRPr>
                    </a:p>
                  </a:txBody>
                  <a:tcPr marL="137160" marR="137160" marT="68580" marB="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7434002"/>
                  </a:ext>
                </a:extLst>
              </a:tr>
            </a:tbl>
          </a:graphicData>
        </a:graphic>
      </p:graphicFrame>
      <p:sp>
        <p:nvSpPr>
          <p:cNvPr id="28" name="TextBox 27">
            <a:extLst>
              <a:ext uri="{FF2B5EF4-FFF2-40B4-BE49-F238E27FC236}">
                <a16:creationId xmlns:a16="http://schemas.microsoft.com/office/drawing/2014/main" id="{6C48AAD9-F795-E816-B62C-5161E30B9852}"/>
              </a:ext>
            </a:extLst>
          </p:cNvPr>
          <p:cNvSpPr txBox="1"/>
          <p:nvPr/>
        </p:nvSpPr>
        <p:spPr>
          <a:xfrm>
            <a:off x="6093105" y="2307302"/>
            <a:ext cx="5127360" cy="830997"/>
          </a:xfrm>
          <a:prstGeom prst="rect">
            <a:avLst/>
          </a:prstGeom>
          <a:noFill/>
        </p:spPr>
        <p:txBody>
          <a:bodyPr wrap="square" rtlCol="0">
            <a:spAutoFit/>
          </a:bodyPr>
          <a:lstStyle/>
          <a:p>
            <a:pPr algn="ctr"/>
            <a:r>
              <a:rPr lang="en-US" sz="4800" b="1">
                <a:solidFill>
                  <a:schemeClr val="bg1"/>
                </a:solidFill>
                <a:latin typeface="Bahnschrift Condensed" panose="020B0502040204020203" pitchFamily="34" charset="0"/>
              </a:rPr>
              <a:t>BATCH - 5 ECE II A Sec</a:t>
            </a:r>
            <a:endParaRPr lang="en-IN" sz="4800">
              <a:solidFill>
                <a:schemeClr val="bg1"/>
              </a:solidFill>
            </a:endParaRPr>
          </a:p>
        </p:txBody>
      </p:sp>
      <p:pic>
        <p:nvPicPr>
          <p:cNvPr id="29" name="Picture 28" descr="A close up of a logo">
            <a:extLst>
              <a:ext uri="{FF2B5EF4-FFF2-40B4-BE49-F238E27FC236}">
                <a16:creationId xmlns:a16="http://schemas.microsoft.com/office/drawing/2014/main" id="{78DD99F6-2BC1-04EE-5FE1-F74B8A6A65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Tree>
    <p:extLst>
      <p:ext uri="{BB962C8B-B14F-4D97-AF65-F5344CB8AC3E}">
        <p14:creationId xmlns:p14="http://schemas.microsoft.com/office/powerpoint/2010/main" val="3841650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p:cNvSpPr/>
          <p:nvPr/>
        </p:nvSpPr>
        <p:spPr>
          <a:xfrm rot="-2272947">
            <a:off x="13553100" y="-2371378"/>
            <a:ext cx="8106813" cy="8725533"/>
          </a:xfrm>
          <a:custGeom>
            <a:avLst/>
            <a:gdLst/>
            <a:ahLst/>
            <a:cxnLst/>
            <a:rect l="l" t="t" r="r" b="b"/>
            <a:pathLst>
              <a:path w="8106813" h="8725533">
                <a:moveTo>
                  <a:pt x="0" y="0"/>
                </a:moveTo>
                <a:lnTo>
                  <a:pt x="8106813" y="0"/>
                </a:lnTo>
                <a:lnTo>
                  <a:pt x="8106813" y="8725533"/>
                </a:lnTo>
                <a:lnTo>
                  <a:pt x="0" y="87255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5374744" y="7682326"/>
            <a:ext cx="3252480" cy="3151948"/>
          </a:xfrm>
          <a:custGeom>
            <a:avLst/>
            <a:gdLst/>
            <a:ahLst/>
            <a:cxnLst/>
            <a:rect l="l" t="t" r="r" b="b"/>
            <a:pathLst>
              <a:path w="3252480" h="3151948">
                <a:moveTo>
                  <a:pt x="0" y="0"/>
                </a:moveTo>
                <a:lnTo>
                  <a:pt x="3252479" y="0"/>
                </a:lnTo>
                <a:lnTo>
                  <a:pt x="3252479" y="3151948"/>
                </a:lnTo>
                <a:lnTo>
                  <a:pt x="0" y="31519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3649572">
            <a:off x="-3765059" y="5277923"/>
            <a:ext cx="7530117" cy="6918465"/>
          </a:xfrm>
          <a:custGeom>
            <a:avLst/>
            <a:gdLst/>
            <a:ahLst/>
            <a:cxnLst/>
            <a:rect l="l" t="t" r="r" b="b"/>
            <a:pathLst>
              <a:path w="7530117" h="6918465">
                <a:moveTo>
                  <a:pt x="0" y="0"/>
                </a:moveTo>
                <a:lnTo>
                  <a:pt x="7530118" y="0"/>
                </a:lnTo>
                <a:lnTo>
                  <a:pt x="7530118" y="6918466"/>
                </a:lnTo>
                <a:lnTo>
                  <a:pt x="0" y="6918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882822">
            <a:off x="15329165" y="-215633"/>
            <a:ext cx="3343637" cy="4414042"/>
          </a:xfrm>
          <a:custGeom>
            <a:avLst/>
            <a:gdLst/>
            <a:ahLst/>
            <a:cxnLst/>
            <a:rect l="l" t="t" r="r" b="b"/>
            <a:pathLst>
              <a:path w="3343637" h="4414042">
                <a:moveTo>
                  <a:pt x="0" y="0"/>
                </a:moveTo>
                <a:lnTo>
                  <a:pt x="3343637" y="0"/>
                </a:lnTo>
                <a:lnTo>
                  <a:pt x="3343637" y="4414042"/>
                </a:lnTo>
                <a:lnTo>
                  <a:pt x="0" y="441404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1772112">
            <a:off x="-1176621" y="6761333"/>
            <a:ext cx="3375450" cy="4072941"/>
          </a:xfrm>
          <a:custGeom>
            <a:avLst/>
            <a:gdLst/>
            <a:ahLst/>
            <a:cxnLst/>
            <a:rect l="l" t="t" r="r" b="b"/>
            <a:pathLst>
              <a:path w="3375450" h="4072941">
                <a:moveTo>
                  <a:pt x="0" y="0"/>
                </a:moveTo>
                <a:lnTo>
                  <a:pt x="3375451" y="0"/>
                </a:lnTo>
                <a:lnTo>
                  <a:pt x="3375451" y="4072941"/>
                </a:lnTo>
                <a:lnTo>
                  <a:pt x="0" y="40729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5" name="TextBox 15"/>
          <p:cNvSpPr txBox="1"/>
          <p:nvPr/>
        </p:nvSpPr>
        <p:spPr>
          <a:xfrm>
            <a:off x="5084200" y="1231226"/>
            <a:ext cx="6644137" cy="1128514"/>
          </a:xfrm>
          <a:prstGeom prst="rect">
            <a:avLst/>
          </a:prstGeom>
        </p:spPr>
        <p:txBody>
          <a:bodyPr wrap="square" lIns="0" tIns="0" rIns="0" bIns="0" rtlCol="0" anchor="t">
            <a:spAutoFit/>
          </a:bodyPr>
          <a:lstStyle/>
          <a:p>
            <a:pPr marL="0" lvl="0" indent="0" algn="l">
              <a:lnSpc>
                <a:spcPts val="8800"/>
              </a:lnSpc>
            </a:pPr>
            <a:r>
              <a:rPr lang="en-US" sz="8000" spc="160">
                <a:solidFill>
                  <a:srgbClr val="000000"/>
                </a:solidFill>
                <a:latin typeface="Gagalin"/>
                <a:ea typeface="Gagalin"/>
                <a:cs typeface="Gagalin"/>
                <a:sym typeface="Gagalin"/>
              </a:rPr>
              <a:t>project title</a:t>
            </a:r>
          </a:p>
        </p:txBody>
      </p:sp>
      <p:pic>
        <p:nvPicPr>
          <p:cNvPr id="17" name="Picture 16" descr="A close up of a logo">
            <a:extLst>
              <a:ext uri="{FF2B5EF4-FFF2-40B4-BE49-F238E27FC236}">
                <a16:creationId xmlns:a16="http://schemas.microsoft.com/office/drawing/2014/main" id="{8F90AEA5-1AD1-238F-4516-E46012E566B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18" name="TextBox 17">
            <a:extLst>
              <a:ext uri="{FF2B5EF4-FFF2-40B4-BE49-F238E27FC236}">
                <a16:creationId xmlns:a16="http://schemas.microsoft.com/office/drawing/2014/main" id="{90E4A0F8-CF5F-0C60-FA28-39300E01E27F}"/>
              </a:ext>
            </a:extLst>
          </p:cNvPr>
          <p:cNvSpPr txBox="1"/>
          <p:nvPr/>
        </p:nvSpPr>
        <p:spPr>
          <a:xfrm>
            <a:off x="1295401" y="4219588"/>
            <a:ext cx="14859000" cy="3416320"/>
          </a:xfrm>
          <a:prstGeom prst="rect">
            <a:avLst/>
          </a:prstGeom>
          <a:noFill/>
        </p:spPr>
        <p:txBody>
          <a:bodyPr wrap="square" rtlCol="0">
            <a:spAutoFit/>
          </a:bodyPr>
          <a:lstStyle/>
          <a:p>
            <a:pPr algn="ctr"/>
            <a:r>
              <a:rPr lang="en-US" sz="7200">
                <a:latin typeface="Agrandir" panose="020B0604020202020204" charset="0"/>
              </a:rPr>
              <a:t>Dual-Mode Home Automation System(Voice and Manual) </a:t>
            </a:r>
          </a:p>
          <a:p>
            <a:pPr algn="ctr"/>
            <a:r>
              <a:rPr lang="en-US" sz="7200">
                <a:latin typeface="Agrandir" panose="020B0604020202020204" charset="0"/>
              </a:rPr>
              <a:t>using Node MCU</a:t>
            </a:r>
            <a:endParaRPr lang="en-IN" sz="7200">
              <a:latin typeface="Agrandir" panose="020B0604020202020204" charset="0"/>
            </a:endParaRPr>
          </a:p>
        </p:txBody>
      </p:sp>
    </p:spTree>
    <p:extLst>
      <p:ext uri="{BB962C8B-B14F-4D97-AF65-F5344CB8AC3E}">
        <p14:creationId xmlns:p14="http://schemas.microsoft.com/office/powerpoint/2010/main" val="319907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IN"/>
          </a:p>
        </p:txBody>
      </p:sp>
      <p:sp>
        <p:nvSpPr>
          <p:cNvPr id="3" name="Freeform 3"/>
          <p:cNvSpPr/>
          <p:nvPr/>
        </p:nvSpPr>
        <p:spPr>
          <a:xfrm rot="3191312">
            <a:off x="4617629" y="8252624"/>
            <a:ext cx="3662577" cy="3549370"/>
          </a:xfrm>
          <a:custGeom>
            <a:avLst/>
            <a:gdLst/>
            <a:ahLst/>
            <a:cxnLst/>
            <a:rect l="l" t="t" r="r" b="b"/>
            <a:pathLst>
              <a:path w="3662577" h="3549370">
                <a:moveTo>
                  <a:pt x="0" y="0"/>
                </a:moveTo>
                <a:lnTo>
                  <a:pt x="3662578" y="0"/>
                </a:lnTo>
                <a:lnTo>
                  <a:pt x="3662578" y="3549370"/>
                </a:lnTo>
                <a:lnTo>
                  <a:pt x="0" y="35493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8277685">
            <a:off x="12239230" y="-2270134"/>
            <a:ext cx="6912691" cy="7353926"/>
          </a:xfrm>
          <a:custGeom>
            <a:avLst/>
            <a:gdLst/>
            <a:ahLst/>
            <a:cxnLst/>
            <a:rect l="l" t="t" r="r" b="b"/>
            <a:pathLst>
              <a:path w="6912691" h="7353926">
                <a:moveTo>
                  <a:pt x="0" y="0"/>
                </a:moveTo>
                <a:lnTo>
                  <a:pt x="6912691" y="0"/>
                </a:lnTo>
                <a:lnTo>
                  <a:pt x="6912691" y="7353926"/>
                </a:lnTo>
                <a:lnTo>
                  <a:pt x="0" y="73539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2272947">
            <a:off x="-2251249" y="4207028"/>
            <a:ext cx="6559898" cy="7060555"/>
          </a:xfrm>
          <a:custGeom>
            <a:avLst/>
            <a:gdLst/>
            <a:ahLst/>
            <a:cxnLst/>
            <a:rect l="l" t="t" r="r" b="b"/>
            <a:pathLst>
              <a:path w="6559898" h="7060555">
                <a:moveTo>
                  <a:pt x="0" y="0"/>
                </a:moveTo>
                <a:lnTo>
                  <a:pt x="6559898" y="0"/>
                </a:lnTo>
                <a:lnTo>
                  <a:pt x="6559898" y="7060556"/>
                </a:lnTo>
                <a:lnTo>
                  <a:pt x="0" y="706055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2855401">
            <a:off x="15298344" y="-578565"/>
            <a:ext cx="2675318" cy="3970788"/>
          </a:xfrm>
          <a:custGeom>
            <a:avLst/>
            <a:gdLst/>
            <a:ahLst/>
            <a:cxnLst/>
            <a:rect l="l" t="t" r="r" b="b"/>
            <a:pathLst>
              <a:path w="2675318" h="3970788">
                <a:moveTo>
                  <a:pt x="0" y="0"/>
                </a:moveTo>
                <a:lnTo>
                  <a:pt x="2675318" y="0"/>
                </a:lnTo>
                <a:lnTo>
                  <a:pt x="2675318" y="3970788"/>
                </a:lnTo>
                <a:lnTo>
                  <a:pt x="0" y="397078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2444549" y="7282872"/>
            <a:ext cx="4259682" cy="3950855"/>
          </a:xfrm>
          <a:custGeom>
            <a:avLst/>
            <a:gdLst/>
            <a:ahLst/>
            <a:cxnLst/>
            <a:rect l="l" t="t" r="r" b="b"/>
            <a:pathLst>
              <a:path w="4259682" h="3950855">
                <a:moveTo>
                  <a:pt x="0" y="0"/>
                </a:moveTo>
                <a:lnTo>
                  <a:pt x="4259682" y="0"/>
                </a:lnTo>
                <a:lnTo>
                  <a:pt x="4259682" y="3950856"/>
                </a:lnTo>
                <a:lnTo>
                  <a:pt x="0" y="395085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8" name="Group 8"/>
          <p:cNvGrpSpPr/>
          <p:nvPr/>
        </p:nvGrpSpPr>
        <p:grpSpPr>
          <a:xfrm>
            <a:off x="1373818" y="2635055"/>
            <a:ext cx="15627165" cy="6623245"/>
            <a:chOff x="0" y="0"/>
            <a:chExt cx="20836220" cy="8830994"/>
          </a:xfrm>
        </p:grpSpPr>
        <p:grpSp>
          <p:nvGrpSpPr>
            <p:cNvPr id="9" name="Group 9"/>
            <p:cNvGrpSpPr/>
            <p:nvPr/>
          </p:nvGrpSpPr>
          <p:grpSpPr>
            <a:xfrm>
              <a:off x="0" y="0"/>
              <a:ext cx="20836220" cy="8830994"/>
              <a:chOff x="0" y="0"/>
              <a:chExt cx="4115797" cy="1744394"/>
            </a:xfrm>
          </p:grpSpPr>
          <p:sp>
            <p:nvSpPr>
              <p:cNvPr id="10" name="Freeform 10"/>
              <p:cNvSpPr/>
              <p:nvPr/>
            </p:nvSpPr>
            <p:spPr>
              <a:xfrm>
                <a:off x="0" y="0"/>
                <a:ext cx="4115797" cy="1744394"/>
              </a:xfrm>
              <a:custGeom>
                <a:avLst/>
                <a:gdLst/>
                <a:ahLst/>
                <a:cxnLst/>
                <a:rect l="l" t="t" r="r" b="b"/>
                <a:pathLst>
                  <a:path w="4115797" h="1744394">
                    <a:moveTo>
                      <a:pt x="0" y="0"/>
                    </a:moveTo>
                    <a:lnTo>
                      <a:pt x="4115797" y="0"/>
                    </a:lnTo>
                    <a:lnTo>
                      <a:pt x="4115797" y="1744394"/>
                    </a:lnTo>
                    <a:lnTo>
                      <a:pt x="0" y="1744394"/>
                    </a:lnTo>
                    <a:close/>
                  </a:path>
                </a:pathLst>
              </a:custGeom>
              <a:solidFill>
                <a:srgbClr val="FFFFFF">
                  <a:alpha val="40000"/>
                </a:srgbClr>
              </a:solidFill>
              <a:ln w="38100" cap="sq">
                <a:solidFill>
                  <a:srgbClr val="000000">
                    <a:alpha val="40000"/>
                  </a:srgbClr>
                </a:solidFill>
                <a:prstDash val="solid"/>
                <a:miter/>
              </a:ln>
            </p:spPr>
          </p:sp>
          <p:sp>
            <p:nvSpPr>
              <p:cNvPr id="11" name="TextBox 11"/>
              <p:cNvSpPr txBox="1"/>
              <p:nvPr/>
            </p:nvSpPr>
            <p:spPr>
              <a:xfrm>
                <a:off x="0" y="-85725"/>
                <a:ext cx="4115797" cy="1830119"/>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0" y="0"/>
              <a:ext cx="20836220" cy="8830994"/>
              <a:chOff x="0" y="0"/>
              <a:chExt cx="4115797" cy="1744394"/>
            </a:xfrm>
          </p:grpSpPr>
          <p:sp>
            <p:nvSpPr>
              <p:cNvPr id="13" name="Freeform 13"/>
              <p:cNvSpPr/>
              <p:nvPr/>
            </p:nvSpPr>
            <p:spPr>
              <a:xfrm>
                <a:off x="0" y="0"/>
                <a:ext cx="4115797" cy="1744394"/>
              </a:xfrm>
              <a:custGeom>
                <a:avLst/>
                <a:gdLst/>
                <a:ahLst/>
                <a:cxnLst/>
                <a:rect l="l" t="t" r="r" b="b"/>
                <a:pathLst>
                  <a:path w="4115797" h="1744394">
                    <a:moveTo>
                      <a:pt x="0" y="0"/>
                    </a:moveTo>
                    <a:lnTo>
                      <a:pt x="4115797" y="0"/>
                    </a:lnTo>
                    <a:lnTo>
                      <a:pt x="4115797" y="1744394"/>
                    </a:lnTo>
                    <a:lnTo>
                      <a:pt x="0" y="1744394"/>
                    </a:lnTo>
                    <a:close/>
                  </a:path>
                </a:pathLst>
              </a:custGeom>
              <a:solidFill>
                <a:srgbClr val="000000">
                  <a:alpha val="0"/>
                </a:srgbClr>
              </a:solidFill>
              <a:ln w="38100" cap="sq">
                <a:solidFill>
                  <a:srgbClr val="000000"/>
                </a:solidFill>
                <a:prstDash val="solid"/>
                <a:miter/>
              </a:ln>
            </p:spPr>
          </p:sp>
          <p:sp>
            <p:nvSpPr>
              <p:cNvPr id="14" name="TextBox 14"/>
              <p:cNvSpPr txBox="1"/>
              <p:nvPr/>
            </p:nvSpPr>
            <p:spPr>
              <a:xfrm>
                <a:off x="0" y="-85725"/>
                <a:ext cx="4115797" cy="1830119"/>
              </a:xfrm>
              <a:prstGeom prst="rect">
                <a:avLst/>
              </a:prstGeom>
            </p:spPr>
            <p:txBody>
              <a:bodyPr lIns="50800" tIns="50800" rIns="50800" bIns="50800" rtlCol="0" anchor="ctr"/>
              <a:lstStyle/>
              <a:p>
                <a:pPr algn="ctr">
                  <a:lnSpc>
                    <a:spcPts val="2659"/>
                  </a:lnSpc>
                </a:pPr>
                <a:endParaRPr/>
              </a:p>
            </p:txBody>
          </p:sp>
        </p:grpSp>
      </p:grpSp>
      <p:sp>
        <p:nvSpPr>
          <p:cNvPr id="16" name="TextBox 16"/>
          <p:cNvSpPr txBox="1"/>
          <p:nvPr/>
        </p:nvSpPr>
        <p:spPr>
          <a:xfrm>
            <a:off x="1373818" y="787704"/>
            <a:ext cx="15627165" cy="1073371"/>
          </a:xfrm>
          <a:prstGeom prst="rect">
            <a:avLst/>
          </a:prstGeom>
        </p:spPr>
        <p:txBody>
          <a:bodyPr lIns="0" tIns="0" rIns="0" bIns="0" rtlCol="0" anchor="t">
            <a:spAutoFit/>
          </a:bodyPr>
          <a:lstStyle/>
          <a:p>
            <a:pPr marL="0" lvl="0" indent="0" algn="l">
              <a:lnSpc>
                <a:spcPts val="9600"/>
              </a:lnSpc>
              <a:spcBef>
                <a:spcPct val="0"/>
              </a:spcBef>
            </a:pPr>
            <a:r>
              <a:rPr lang="en-US" sz="6000" spc="160">
                <a:solidFill>
                  <a:srgbClr val="000000"/>
                </a:solidFill>
                <a:latin typeface="Gagalin"/>
                <a:ea typeface="Gagalin"/>
                <a:cs typeface="Gagalin"/>
                <a:sym typeface="Gagalin"/>
              </a:rPr>
              <a:t>Project overview</a:t>
            </a:r>
          </a:p>
        </p:txBody>
      </p:sp>
      <p:pic>
        <p:nvPicPr>
          <p:cNvPr id="17" name="Picture 16" descr="A close up of a logo">
            <a:extLst>
              <a:ext uri="{FF2B5EF4-FFF2-40B4-BE49-F238E27FC236}">
                <a16:creationId xmlns:a16="http://schemas.microsoft.com/office/drawing/2014/main" id="{A72ED942-7F70-CA9E-EC07-2313E47686A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18" name="TextBox 17">
            <a:extLst>
              <a:ext uri="{FF2B5EF4-FFF2-40B4-BE49-F238E27FC236}">
                <a16:creationId xmlns:a16="http://schemas.microsoft.com/office/drawing/2014/main" id="{B08FAF3B-442E-AFE6-9B51-8AA9D46780B5}"/>
              </a:ext>
            </a:extLst>
          </p:cNvPr>
          <p:cNvSpPr txBox="1"/>
          <p:nvPr/>
        </p:nvSpPr>
        <p:spPr>
          <a:xfrm>
            <a:off x="1676400" y="2936924"/>
            <a:ext cx="6934200" cy="6247864"/>
          </a:xfrm>
          <a:prstGeom prst="rect">
            <a:avLst/>
          </a:prstGeom>
          <a:noFill/>
        </p:spPr>
        <p:txBody>
          <a:bodyPr wrap="square" rtlCol="0">
            <a:spAutoFit/>
          </a:bodyPr>
          <a:lstStyle/>
          <a:p>
            <a:r>
              <a:rPr lang="en-US" sz="4000">
                <a:latin typeface="Agrandir" panose="020B0604020202020204" charset="0"/>
              </a:rPr>
              <a:t>This project aims to design and implement a low-cost, flexible, and user-friendly home automation system that allows users to control electrical appliances (like lights, fans, etc.) through two primary modes: </a:t>
            </a:r>
            <a:r>
              <a:rPr lang="en-US" sz="4000" b="1">
                <a:latin typeface="Agrandir" panose="020B0604020202020204" charset="0"/>
              </a:rPr>
              <a:t>Voice Commands</a:t>
            </a:r>
            <a:r>
              <a:rPr lang="en-US" sz="4000">
                <a:latin typeface="Agrandir" panose="020B0604020202020204" charset="0"/>
              </a:rPr>
              <a:t> and </a:t>
            </a:r>
            <a:r>
              <a:rPr lang="en-US" sz="4000" b="1">
                <a:latin typeface="Agrandir" panose="020B0604020202020204" charset="0"/>
              </a:rPr>
              <a:t>Manual Control</a:t>
            </a:r>
            <a:r>
              <a:rPr lang="en-US" sz="4000">
                <a:latin typeface="Agrandir" panose="020B0604020202020204" charset="0"/>
              </a:rPr>
              <a:t> </a:t>
            </a:r>
            <a:endParaRPr lang="en-IN" sz="4000">
              <a:latin typeface="Agrandir" panose="020B0604020202020204" charset="0"/>
            </a:endParaRPr>
          </a:p>
        </p:txBody>
      </p:sp>
      <p:pic>
        <p:nvPicPr>
          <p:cNvPr id="19" name="Picture 18" descr="A diagram of a device">
            <a:extLst>
              <a:ext uri="{FF2B5EF4-FFF2-40B4-BE49-F238E27FC236}">
                <a16:creationId xmlns:a16="http://schemas.microsoft.com/office/drawing/2014/main" id="{B34FB1D3-8DD6-9352-89C2-39631F5CD61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610600" y="3117752"/>
            <a:ext cx="8303582" cy="5657850"/>
          </a:xfrm>
          <a:prstGeom prst="rect">
            <a:avLst/>
          </a:prstGeom>
        </p:spPr>
      </p:pic>
    </p:spTree>
    <p:extLst>
      <p:ext uri="{BB962C8B-B14F-4D97-AF65-F5344CB8AC3E}">
        <p14:creationId xmlns:p14="http://schemas.microsoft.com/office/powerpoint/2010/main" val="133994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54443-6CB8-9CFB-1DF3-88BB378D44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BDE9C7-BA0A-1294-3710-AF3EACD4DF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r="-48" b="-38974"/>
            </a:stretch>
          </a:blipFill>
        </p:spPr>
      </p:sp>
      <p:sp>
        <p:nvSpPr>
          <p:cNvPr id="3" name="Freeform 3">
            <a:extLst>
              <a:ext uri="{FF2B5EF4-FFF2-40B4-BE49-F238E27FC236}">
                <a16:creationId xmlns:a16="http://schemas.microsoft.com/office/drawing/2014/main" id="{F148CF90-4270-841D-F386-1FF5E20E417C}"/>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BDB1832C-9FB8-5A50-273D-80C4D220D5C0}"/>
              </a:ext>
            </a:extLst>
          </p:cNvPr>
          <p:cNvSpPr txBox="1"/>
          <p:nvPr/>
        </p:nvSpPr>
        <p:spPr>
          <a:xfrm>
            <a:off x="1028699" y="994168"/>
            <a:ext cx="8115301" cy="1073371"/>
          </a:xfrm>
          <a:prstGeom prst="rect">
            <a:avLst/>
          </a:prstGeom>
        </p:spPr>
        <p:txBody>
          <a:bodyPr wrap="square" lIns="0" tIns="0" rIns="0" bIns="0" rtlCol="0" anchor="ctr">
            <a:spAutoFit/>
          </a:bodyPr>
          <a:lstStyle/>
          <a:p>
            <a:pPr marL="0" lvl="0" indent="0" algn="l">
              <a:lnSpc>
                <a:spcPts val="9600"/>
              </a:lnSpc>
              <a:spcBef>
                <a:spcPct val="0"/>
              </a:spcBef>
            </a:pPr>
            <a:r>
              <a:rPr lang="en-US" sz="6000" spc="160">
                <a:solidFill>
                  <a:srgbClr val="000000"/>
                </a:solidFill>
                <a:latin typeface="Gagalin"/>
                <a:ea typeface="Gagalin"/>
                <a:cs typeface="Gagalin"/>
                <a:sym typeface="Gagalin"/>
              </a:rPr>
              <a:t>Tools required </a:t>
            </a:r>
          </a:p>
        </p:txBody>
      </p:sp>
      <p:sp>
        <p:nvSpPr>
          <p:cNvPr id="5" name="Freeform 5">
            <a:extLst>
              <a:ext uri="{FF2B5EF4-FFF2-40B4-BE49-F238E27FC236}">
                <a16:creationId xmlns:a16="http://schemas.microsoft.com/office/drawing/2014/main" id="{FC006E6E-AF7A-A3E2-86AE-AC435B53441E}"/>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8318FCED-D1C6-D755-9DB3-CCC2FDC05507}"/>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pic>
        <p:nvPicPr>
          <p:cNvPr id="7" name="Picture 6" descr="A close up of a logo">
            <a:extLst>
              <a:ext uri="{FF2B5EF4-FFF2-40B4-BE49-F238E27FC236}">
                <a16:creationId xmlns:a16="http://schemas.microsoft.com/office/drawing/2014/main" id="{77E0F7FB-9793-8D5F-429D-95160EB0E3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9" name="TextBox 8">
            <a:extLst>
              <a:ext uri="{FF2B5EF4-FFF2-40B4-BE49-F238E27FC236}">
                <a16:creationId xmlns:a16="http://schemas.microsoft.com/office/drawing/2014/main" id="{7F2172F6-1E48-8D6E-E195-1D9B645EAA47}"/>
              </a:ext>
            </a:extLst>
          </p:cNvPr>
          <p:cNvSpPr txBox="1"/>
          <p:nvPr/>
        </p:nvSpPr>
        <p:spPr>
          <a:xfrm>
            <a:off x="1600200" y="2353821"/>
            <a:ext cx="6638356" cy="707886"/>
          </a:xfrm>
          <a:prstGeom prst="rect">
            <a:avLst/>
          </a:prstGeom>
          <a:noFill/>
        </p:spPr>
        <p:txBody>
          <a:bodyPr wrap="none" rtlCol="0">
            <a:spAutoFit/>
          </a:bodyPr>
          <a:lstStyle/>
          <a:p>
            <a:r>
              <a:rPr lang="en-US" sz="4000">
                <a:solidFill>
                  <a:schemeClr val="bg1"/>
                </a:solidFill>
                <a:latin typeface="Agrandir" panose="020B0604020202020204" charset="0"/>
              </a:rPr>
              <a:t>Key components required</a:t>
            </a:r>
            <a:endParaRPr lang="en-IN" sz="4000">
              <a:solidFill>
                <a:schemeClr val="bg1"/>
              </a:solidFill>
              <a:latin typeface="Agrandir" panose="020B0604020202020204" charset="0"/>
            </a:endParaRPr>
          </a:p>
        </p:txBody>
      </p:sp>
      <p:sp>
        <p:nvSpPr>
          <p:cNvPr id="10" name="TextBox 9">
            <a:extLst>
              <a:ext uri="{FF2B5EF4-FFF2-40B4-BE49-F238E27FC236}">
                <a16:creationId xmlns:a16="http://schemas.microsoft.com/office/drawing/2014/main" id="{9777D737-B968-AD81-13E4-288F9FF5292D}"/>
              </a:ext>
            </a:extLst>
          </p:cNvPr>
          <p:cNvSpPr txBox="1"/>
          <p:nvPr/>
        </p:nvSpPr>
        <p:spPr>
          <a:xfrm>
            <a:off x="1852976" y="3277036"/>
            <a:ext cx="14453824" cy="5509200"/>
          </a:xfrm>
          <a:prstGeom prst="rect">
            <a:avLst/>
          </a:prstGeom>
          <a:noFill/>
        </p:spPr>
        <p:txBody>
          <a:bodyPr wrap="square" rtlCol="0">
            <a:spAutoFit/>
          </a:bodyPr>
          <a:lstStyle/>
          <a:p>
            <a:pPr marL="457200" indent="-457200">
              <a:buFont typeface="Arial" panose="020B0604020202020204" pitchFamily="34" charset="0"/>
              <a:buChar char="•"/>
            </a:pPr>
            <a:r>
              <a:rPr lang="en-IN" sz="3200">
                <a:solidFill>
                  <a:schemeClr val="bg1"/>
                </a:solidFill>
                <a:latin typeface="Agrandir" panose="020B0604020202020204" charset="0"/>
              </a:rPr>
              <a:t>ESP-12E ESP8266 Node </a:t>
            </a:r>
            <a:r>
              <a:rPr lang="en-IN" sz="3200" err="1">
                <a:solidFill>
                  <a:schemeClr val="bg1"/>
                </a:solidFill>
                <a:latin typeface="Agrandir" panose="020B0604020202020204" charset="0"/>
              </a:rPr>
              <a:t>Mcu</a:t>
            </a:r>
            <a:endParaRPr lang="en-IN" sz="3200">
              <a:solidFill>
                <a:schemeClr val="bg1"/>
              </a:solidFill>
              <a:latin typeface="Agrandir" panose="020B0604020202020204" charset="0"/>
            </a:endParaRPr>
          </a:p>
          <a:p>
            <a:pPr marL="457200" indent="-457200">
              <a:buFont typeface="Arial" panose="020B0604020202020204" pitchFamily="34" charset="0"/>
              <a:buChar char="•"/>
            </a:pPr>
            <a:r>
              <a:rPr lang="en-IN" sz="3200">
                <a:solidFill>
                  <a:schemeClr val="bg1"/>
                </a:solidFill>
                <a:latin typeface="Agrandir" panose="020B0604020202020204" charset="0"/>
              </a:rPr>
              <a:t>4-Channel Relay Module</a:t>
            </a:r>
            <a:r>
              <a:rPr lang="en-US" sz="3200">
                <a:solidFill>
                  <a:schemeClr val="bg1"/>
                </a:solidFill>
                <a:latin typeface="Agrandir" panose="020B0604020202020204" charset="0"/>
              </a:rPr>
              <a:t> </a:t>
            </a:r>
          </a:p>
          <a:p>
            <a:pPr marL="457200" indent="-457200">
              <a:buFont typeface="Arial" panose="020B0604020202020204" pitchFamily="34" charset="0"/>
              <a:buChar char="•"/>
            </a:pPr>
            <a:r>
              <a:rPr lang="en-IN" sz="3200">
                <a:solidFill>
                  <a:schemeClr val="bg1"/>
                </a:solidFill>
                <a:latin typeface="Agrandir" panose="020B0604020202020204" charset="0"/>
              </a:rPr>
              <a:t>LEDs / Bulbs (for testing)</a:t>
            </a:r>
          </a:p>
          <a:p>
            <a:pPr marL="457200" indent="-457200">
              <a:buFont typeface="Arial" panose="020B0604020202020204" pitchFamily="34" charset="0"/>
              <a:buChar char="•"/>
            </a:pPr>
            <a:r>
              <a:rPr lang="en-IN" sz="3200">
                <a:solidFill>
                  <a:schemeClr val="bg1"/>
                </a:solidFill>
                <a:latin typeface="Agrandir" panose="020B0604020202020204" charset="0"/>
              </a:rPr>
              <a:t>Jumper wire</a:t>
            </a:r>
          </a:p>
          <a:p>
            <a:pPr marL="457200" indent="-457200">
              <a:buFont typeface="Arial" panose="020B0604020202020204" pitchFamily="34" charset="0"/>
              <a:buChar char="•"/>
            </a:pPr>
            <a:r>
              <a:rPr lang="en-IN" sz="3200">
                <a:solidFill>
                  <a:schemeClr val="bg1"/>
                </a:solidFill>
                <a:latin typeface="Agrandir" panose="020B0604020202020204" charset="0"/>
              </a:rPr>
              <a:t>Manual switches</a:t>
            </a:r>
          </a:p>
          <a:p>
            <a:pPr marL="457200" indent="-457200">
              <a:buFont typeface="Arial" panose="020B0604020202020204" pitchFamily="34" charset="0"/>
              <a:buChar char="•"/>
            </a:pPr>
            <a:r>
              <a:rPr lang="en-IN" sz="3200">
                <a:solidFill>
                  <a:schemeClr val="bg1"/>
                </a:solidFill>
                <a:latin typeface="Agrandir" panose="020B0604020202020204" charset="0"/>
              </a:rPr>
              <a:t>5v adapter</a:t>
            </a:r>
          </a:p>
          <a:p>
            <a:pPr marL="457200" indent="-457200">
              <a:buFont typeface="Arial" panose="020B0604020202020204" pitchFamily="34" charset="0"/>
              <a:buChar char="•"/>
            </a:pPr>
            <a:r>
              <a:rPr lang="en-IN" sz="3200">
                <a:solidFill>
                  <a:schemeClr val="bg1"/>
                </a:solidFill>
                <a:latin typeface="Agrandir" panose="020B0604020202020204" charset="0"/>
              </a:rPr>
              <a:t>Connecting wires</a:t>
            </a:r>
          </a:p>
          <a:p>
            <a:pPr marL="457200" indent="-457200">
              <a:buFont typeface="Arial" panose="020B0604020202020204" pitchFamily="34" charset="0"/>
              <a:buChar char="•"/>
            </a:pPr>
            <a:r>
              <a:rPr lang="en-IN" sz="3200">
                <a:solidFill>
                  <a:schemeClr val="bg1"/>
                </a:solidFill>
                <a:latin typeface="Agrandir" panose="020B0604020202020204" charset="0"/>
              </a:rPr>
              <a:t>Laptop/Smart phone</a:t>
            </a:r>
          </a:p>
          <a:p>
            <a:pPr marL="457200" indent="-457200">
              <a:buFont typeface="Arial" panose="020B0604020202020204" pitchFamily="34" charset="0"/>
              <a:buChar char="•"/>
            </a:pPr>
            <a:r>
              <a:rPr lang="en-US" sz="3200" err="1">
                <a:solidFill>
                  <a:schemeClr val="bg1"/>
                </a:solidFill>
                <a:latin typeface="Agrandir" panose="020B0604020202020204" charset="0"/>
              </a:rPr>
              <a:t>Sinric</a:t>
            </a:r>
            <a:r>
              <a:rPr lang="en-US" sz="3200">
                <a:solidFill>
                  <a:schemeClr val="bg1"/>
                </a:solidFill>
                <a:latin typeface="Agrandir" panose="020B0604020202020204" charset="0"/>
              </a:rPr>
              <a:t> Pro</a:t>
            </a:r>
          </a:p>
          <a:p>
            <a:pPr marL="457200" indent="-457200">
              <a:buFont typeface="Arial" panose="020B0604020202020204" pitchFamily="34" charset="0"/>
              <a:buChar char="•"/>
            </a:pPr>
            <a:r>
              <a:rPr lang="en-US" sz="3200">
                <a:solidFill>
                  <a:schemeClr val="bg1"/>
                </a:solidFill>
                <a:latin typeface="Agrandir" panose="020B0604020202020204" charset="0"/>
              </a:rPr>
              <a:t>Amazon Alexa App</a:t>
            </a:r>
          </a:p>
          <a:p>
            <a:pPr marL="457200" indent="-457200">
              <a:buFont typeface="Arial" panose="020B0604020202020204" pitchFamily="34" charset="0"/>
              <a:buChar char="•"/>
            </a:pPr>
            <a:r>
              <a:rPr lang="en-US" sz="3200">
                <a:solidFill>
                  <a:schemeClr val="bg1"/>
                </a:solidFill>
                <a:latin typeface="Agrandir" panose="020B0604020202020204" charset="0"/>
              </a:rPr>
              <a:t>Google Home App</a:t>
            </a:r>
            <a:endParaRPr lang="en-IN" sz="3200">
              <a:solidFill>
                <a:schemeClr val="bg1"/>
              </a:solidFill>
              <a:latin typeface="Agrandir" panose="020B0604020202020204" charset="0"/>
            </a:endParaRPr>
          </a:p>
        </p:txBody>
      </p:sp>
    </p:spTree>
    <p:extLst>
      <p:ext uri="{BB962C8B-B14F-4D97-AF65-F5344CB8AC3E}">
        <p14:creationId xmlns:p14="http://schemas.microsoft.com/office/powerpoint/2010/main" val="2524726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A3FA-5E86-C8B8-3CDB-36263438AF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27D81B-652C-5696-F0B2-307B411F293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r="-48" b="-38974"/>
            </a:stretch>
          </a:blipFill>
        </p:spPr>
      </p:sp>
      <p:sp>
        <p:nvSpPr>
          <p:cNvPr id="3" name="Freeform 3">
            <a:extLst>
              <a:ext uri="{FF2B5EF4-FFF2-40B4-BE49-F238E27FC236}">
                <a16:creationId xmlns:a16="http://schemas.microsoft.com/office/drawing/2014/main" id="{181297E9-DDE9-DFEB-D4AD-CB305CFBACED}"/>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58B91E91-1CC2-0DD9-6442-1A4C8EA8CAD2}"/>
              </a:ext>
            </a:extLst>
          </p:cNvPr>
          <p:cNvSpPr txBox="1"/>
          <p:nvPr/>
        </p:nvSpPr>
        <p:spPr>
          <a:xfrm>
            <a:off x="1028699" y="994168"/>
            <a:ext cx="8115301" cy="1073371"/>
          </a:xfrm>
          <a:prstGeom prst="rect">
            <a:avLst/>
          </a:prstGeom>
        </p:spPr>
        <p:txBody>
          <a:bodyPr wrap="square" lIns="0" tIns="0" rIns="0" bIns="0" rtlCol="0" anchor="ctr">
            <a:spAutoFit/>
          </a:bodyPr>
          <a:lstStyle/>
          <a:p>
            <a:pPr marL="0" lvl="0" indent="0" algn="l">
              <a:lnSpc>
                <a:spcPts val="9600"/>
              </a:lnSpc>
              <a:spcBef>
                <a:spcPct val="0"/>
              </a:spcBef>
            </a:pPr>
            <a:r>
              <a:rPr lang="en-US" sz="6000" spc="160">
                <a:solidFill>
                  <a:srgbClr val="000000"/>
                </a:solidFill>
                <a:latin typeface="Gagalin"/>
                <a:ea typeface="Gagalin"/>
                <a:cs typeface="Gagalin"/>
                <a:sym typeface="Gagalin"/>
              </a:rPr>
              <a:t>Cost analysis </a:t>
            </a:r>
          </a:p>
        </p:txBody>
      </p:sp>
      <p:sp>
        <p:nvSpPr>
          <p:cNvPr id="5" name="Freeform 5">
            <a:extLst>
              <a:ext uri="{FF2B5EF4-FFF2-40B4-BE49-F238E27FC236}">
                <a16:creationId xmlns:a16="http://schemas.microsoft.com/office/drawing/2014/main" id="{5838D241-C661-C474-12BE-FD39F1FCD8F6}"/>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a:extLst>
              <a:ext uri="{FF2B5EF4-FFF2-40B4-BE49-F238E27FC236}">
                <a16:creationId xmlns:a16="http://schemas.microsoft.com/office/drawing/2014/main" id="{42D8FB3A-77DF-FB6F-9EE5-62BAF4CAE6AE}"/>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pic>
        <p:nvPicPr>
          <p:cNvPr id="7" name="Picture 6" descr="A close up of a logo">
            <a:extLst>
              <a:ext uri="{FF2B5EF4-FFF2-40B4-BE49-F238E27FC236}">
                <a16:creationId xmlns:a16="http://schemas.microsoft.com/office/drawing/2014/main" id="{957D3A7C-04B9-EBF4-4EDC-6891DC1469D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10" name="TextBox 9">
            <a:extLst>
              <a:ext uri="{FF2B5EF4-FFF2-40B4-BE49-F238E27FC236}">
                <a16:creationId xmlns:a16="http://schemas.microsoft.com/office/drawing/2014/main" id="{C706A272-4913-2314-B5D2-6ACF9F755964}"/>
              </a:ext>
            </a:extLst>
          </p:cNvPr>
          <p:cNvSpPr txBox="1"/>
          <p:nvPr/>
        </p:nvSpPr>
        <p:spPr>
          <a:xfrm>
            <a:off x="1852976" y="3277036"/>
            <a:ext cx="14453824" cy="584775"/>
          </a:xfrm>
          <a:prstGeom prst="rect">
            <a:avLst/>
          </a:prstGeom>
          <a:noFill/>
        </p:spPr>
        <p:txBody>
          <a:bodyPr wrap="square" rtlCol="0">
            <a:spAutoFit/>
          </a:bodyPr>
          <a:lstStyle/>
          <a:p>
            <a:pPr marL="457200" indent="-457200">
              <a:buFont typeface="Arial" panose="020B0604020202020204" pitchFamily="34" charset="0"/>
              <a:buChar char="•"/>
            </a:pPr>
            <a:endParaRPr lang="en-IN" sz="3200">
              <a:solidFill>
                <a:schemeClr val="bg1"/>
              </a:solidFill>
              <a:latin typeface="Agrandir" panose="020B0604020202020204" charset="0"/>
            </a:endParaRPr>
          </a:p>
        </p:txBody>
      </p:sp>
      <p:graphicFrame>
        <p:nvGraphicFramePr>
          <p:cNvPr id="6" name="Table 5">
            <a:extLst>
              <a:ext uri="{FF2B5EF4-FFF2-40B4-BE49-F238E27FC236}">
                <a16:creationId xmlns:a16="http://schemas.microsoft.com/office/drawing/2014/main" id="{47C4D0E3-824C-678A-7119-EF586E7FCD9B}"/>
              </a:ext>
            </a:extLst>
          </p:cNvPr>
          <p:cNvGraphicFramePr>
            <a:graphicFrameLocks noGrp="1"/>
          </p:cNvGraphicFramePr>
          <p:nvPr>
            <p:extLst>
              <p:ext uri="{D42A27DB-BD31-4B8C-83A1-F6EECF244321}">
                <p14:modId xmlns:p14="http://schemas.microsoft.com/office/powerpoint/2010/main" val="3193360357"/>
              </p:ext>
            </p:extLst>
          </p:nvPr>
        </p:nvGraphicFramePr>
        <p:xfrm>
          <a:off x="3429000" y="2781300"/>
          <a:ext cx="9448800" cy="6626135"/>
        </p:xfrm>
        <a:graphic>
          <a:graphicData uri="http://schemas.openxmlformats.org/drawingml/2006/table">
            <a:tbl>
              <a:tblPr firstRow="1" firstCol="1" bandRow="1">
                <a:tableStyleId>{5202B0CA-FC54-4496-8BCA-5EF66A818D29}</a:tableStyleId>
              </a:tblPr>
              <a:tblGrid>
                <a:gridCol w="4724400">
                  <a:extLst>
                    <a:ext uri="{9D8B030D-6E8A-4147-A177-3AD203B41FA5}">
                      <a16:colId xmlns:a16="http://schemas.microsoft.com/office/drawing/2014/main" val="4193622807"/>
                    </a:ext>
                  </a:extLst>
                </a:gridCol>
                <a:gridCol w="4724400">
                  <a:extLst>
                    <a:ext uri="{9D8B030D-6E8A-4147-A177-3AD203B41FA5}">
                      <a16:colId xmlns:a16="http://schemas.microsoft.com/office/drawing/2014/main" val="3636136478"/>
                    </a:ext>
                  </a:extLst>
                </a:gridCol>
              </a:tblGrid>
              <a:tr h="557167">
                <a:tc>
                  <a:txBody>
                    <a:bodyPr/>
                    <a:lstStyle/>
                    <a:p>
                      <a:pPr marL="6350" marR="48895" indent="-6350" algn="ctr">
                        <a:lnSpc>
                          <a:spcPct val="107000"/>
                        </a:lnSpc>
                        <a:spcAft>
                          <a:spcPts val="70"/>
                        </a:spcAft>
                        <a:buNone/>
                      </a:pPr>
                      <a:r>
                        <a:rPr lang="en-IN" sz="3200" kern="100">
                          <a:effectLst/>
                        </a:rPr>
                        <a:t>Equipment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B w="12700" cap="flat" cmpd="sng" algn="ctr">
                      <a:solidFill>
                        <a:schemeClr val="tx1"/>
                      </a:solidFill>
                      <a:prstDash val="solid"/>
                      <a:round/>
                      <a:headEnd type="none" w="med" len="med"/>
                      <a:tailEnd type="none" w="med" len="med"/>
                    </a:lnB>
                  </a:tcPr>
                </a:tc>
                <a:tc>
                  <a:txBody>
                    <a:bodyPr/>
                    <a:lstStyle/>
                    <a:p>
                      <a:pPr marL="55880" marR="60960" indent="-6350" algn="ctr">
                        <a:lnSpc>
                          <a:spcPct val="107000"/>
                        </a:lnSpc>
                        <a:spcAft>
                          <a:spcPts val="70"/>
                        </a:spcAft>
                        <a:buNone/>
                      </a:pPr>
                      <a:r>
                        <a:rPr lang="en-IN" sz="3200" kern="100">
                          <a:effectLst/>
                        </a:rPr>
                        <a:t>Cost analysis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3193070"/>
                  </a:ext>
                </a:extLst>
              </a:tr>
              <a:tr h="508432">
                <a:tc>
                  <a:txBody>
                    <a:bodyPr/>
                    <a:lstStyle/>
                    <a:p>
                      <a:pPr marL="6350" marR="48260" indent="-6350" algn="ctr">
                        <a:lnSpc>
                          <a:spcPct val="107000"/>
                        </a:lnSpc>
                        <a:spcAft>
                          <a:spcPts val="70"/>
                        </a:spcAft>
                        <a:buNone/>
                      </a:pPr>
                      <a:r>
                        <a:rPr lang="en-IN" sz="3200" kern="100">
                          <a:effectLst/>
                        </a:rPr>
                        <a:t>Node </a:t>
                      </a:r>
                      <a:r>
                        <a:rPr lang="en-IN" sz="3200" kern="100" err="1">
                          <a:effectLst/>
                        </a:rPr>
                        <a:t>Mcu</a:t>
                      </a:r>
                      <a:r>
                        <a:rPr lang="en-IN" sz="3200" kern="100">
                          <a:effectLst/>
                        </a:rPr>
                        <a:t>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8260" indent="-6350" algn="ctr">
                        <a:lnSpc>
                          <a:spcPct val="107000"/>
                        </a:lnSpc>
                        <a:spcAft>
                          <a:spcPts val="70"/>
                        </a:spcAft>
                        <a:buNone/>
                      </a:pPr>
                      <a:r>
                        <a:rPr lang="en-IN" sz="3200" kern="100">
                          <a:effectLst/>
                        </a:rPr>
                        <a:t>₹400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9302013"/>
                  </a:ext>
                </a:extLst>
              </a:tr>
              <a:tr h="555966">
                <a:tc>
                  <a:txBody>
                    <a:bodyPr/>
                    <a:lstStyle/>
                    <a:p>
                      <a:pPr marL="29210" marR="60960" indent="-6350" algn="ctr">
                        <a:lnSpc>
                          <a:spcPct val="107000"/>
                        </a:lnSpc>
                        <a:spcAft>
                          <a:spcPts val="70"/>
                        </a:spcAft>
                        <a:buNone/>
                      </a:pPr>
                      <a:r>
                        <a:rPr lang="en-IN" sz="3200" kern="100">
                          <a:effectLst/>
                        </a:rPr>
                        <a:t>Relay module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6990" indent="-6350" algn="ctr">
                        <a:lnSpc>
                          <a:spcPct val="107000"/>
                        </a:lnSpc>
                        <a:spcAft>
                          <a:spcPts val="70"/>
                        </a:spcAft>
                        <a:buNone/>
                      </a:pPr>
                      <a:r>
                        <a:rPr lang="en-IN" sz="3200" kern="100">
                          <a:effectLst/>
                        </a:rPr>
                        <a:t>₹350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606023"/>
                  </a:ext>
                </a:extLst>
              </a:tr>
              <a:tr h="566794">
                <a:tc>
                  <a:txBody>
                    <a:bodyPr/>
                    <a:lstStyle/>
                    <a:p>
                      <a:pPr marL="6350" marR="46990" indent="-6350" algn="ctr">
                        <a:lnSpc>
                          <a:spcPct val="107000"/>
                        </a:lnSpc>
                        <a:spcAft>
                          <a:spcPts val="70"/>
                        </a:spcAft>
                        <a:buNone/>
                      </a:pPr>
                      <a:r>
                        <a:rPr lang="en-IN" sz="3200" kern="100">
                          <a:effectLst/>
                        </a:rPr>
                        <a:t>Adapter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8895" indent="-6350" algn="ctr">
                        <a:lnSpc>
                          <a:spcPct val="107000"/>
                        </a:lnSpc>
                        <a:spcAft>
                          <a:spcPts val="70"/>
                        </a:spcAft>
                        <a:buNone/>
                      </a:pPr>
                      <a:r>
                        <a:rPr lang="en-IN" sz="3200" kern="100">
                          <a:effectLst/>
                        </a:rPr>
                        <a:t>₹120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2074106"/>
                  </a:ext>
                </a:extLst>
              </a:tr>
              <a:tr h="558371">
                <a:tc>
                  <a:txBody>
                    <a:bodyPr/>
                    <a:lstStyle/>
                    <a:p>
                      <a:pPr marL="76835" marR="60960" indent="-6350" algn="ctr">
                        <a:lnSpc>
                          <a:spcPct val="107000"/>
                        </a:lnSpc>
                        <a:spcAft>
                          <a:spcPts val="70"/>
                        </a:spcAft>
                        <a:buNone/>
                      </a:pPr>
                      <a:r>
                        <a:rPr lang="en-IN" sz="3200" kern="100">
                          <a:effectLst/>
                        </a:rPr>
                        <a:t>B-type cable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50800" indent="-6350" algn="ctr">
                        <a:lnSpc>
                          <a:spcPct val="107000"/>
                        </a:lnSpc>
                        <a:spcAft>
                          <a:spcPts val="70"/>
                        </a:spcAft>
                        <a:buNone/>
                      </a:pPr>
                      <a:r>
                        <a:rPr lang="en-IN" sz="3200" kern="100">
                          <a:effectLst/>
                        </a:rPr>
                        <a:t>₹60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9996920"/>
                  </a:ext>
                </a:extLst>
              </a:tr>
              <a:tr h="508432">
                <a:tc>
                  <a:txBody>
                    <a:bodyPr/>
                    <a:lstStyle/>
                    <a:p>
                      <a:pPr marL="6350" marR="45720" indent="-6350" algn="ctr">
                        <a:lnSpc>
                          <a:spcPct val="107000"/>
                        </a:lnSpc>
                        <a:spcAft>
                          <a:spcPts val="70"/>
                        </a:spcAft>
                        <a:buNone/>
                      </a:pPr>
                      <a:r>
                        <a:rPr lang="en-IN" sz="3200" kern="100">
                          <a:effectLst/>
                        </a:rPr>
                        <a:t>Bulbs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8895" indent="-6350" algn="ctr">
                        <a:lnSpc>
                          <a:spcPct val="107000"/>
                        </a:lnSpc>
                        <a:spcAft>
                          <a:spcPts val="70"/>
                        </a:spcAft>
                        <a:buNone/>
                      </a:pPr>
                      <a:r>
                        <a:rPr lang="en-IN" sz="3200" kern="100">
                          <a:effectLst/>
                        </a:rPr>
                        <a:t>₹80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534549"/>
                  </a:ext>
                </a:extLst>
              </a:tr>
              <a:tr h="561983">
                <a:tc>
                  <a:txBody>
                    <a:bodyPr/>
                    <a:lstStyle/>
                    <a:p>
                      <a:pPr marL="35560" marR="60960" indent="-6350" algn="ctr">
                        <a:lnSpc>
                          <a:spcPct val="107000"/>
                        </a:lnSpc>
                        <a:spcAft>
                          <a:spcPts val="70"/>
                        </a:spcAft>
                        <a:buNone/>
                      </a:pPr>
                      <a:r>
                        <a:rPr lang="en-IN" sz="3200" kern="100">
                          <a:effectLst/>
                        </a:rPr>
                        <a:t>Bulbs holders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52070" indent="-6350" algn="ctr">
                        <a:lnSpc>
                          <a:spcPct val="107000"/>
                        </a:lnSpc>
                        <a:spcAft>
                          <a:spcPts val="70"/>
                        </a:spcAft>
                        <a:buNone/>
                      </a:pPr>
                      <a:r>
                        <a:rPr lang="en-IN" sz="3200" kern="100">
                          <a:effectLst/>
                        </a:rPr>
                        <a:t>₹40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554691"/>
                  </a:ext>
                </a:extLst>
              </a:tr>
              <a:tr h="508432">
                <a:tc>
                  <a:txBody>
                    <a:bodyPr/>
                    <a:lstStyle/>
                    <a:p>
                      <a:pPr marL="6350" marR="48260" indent="-6350" algn="ctr">
                        <a:lnSpc>
                          <a:spcPct val="107000"/>
                        </a:lnSpc>
                        <a:spcAft>
                          <a:spcPts val="70"/>
                        </a:spcAft>
                        <a:buNone/>
                      </a:pPr>
                      <a:r>
                        <a:rPr lang="en-IN" sz="3200" kern="100">
                          <a:effectLst/>
                        </a:rPr>
                        <a:t>Wire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8260" indent="-6350" algn="ctr">
                        <a:lnSpc>
                          <a:spcPct val="107000"/>
                        </a:lnSpc>
                        <a:spcAft>
                          <a:spcPts val="70"/>
                        </a:spcAft>
                        <a:buNone/>
                      </a:pPr>
                      <a:r>
                        <a:rPr lang="en-IN" sz="3200" kern="100">
                          <a:effectLst/>
                        </a:rPr>
                        <a:t>₹100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513210"/>
                  </a:ext>
                </a:extLst>
              </a:tr>
              <a:tr h="560778">
                <a:tc>
                  <a:txBody>
                    <a:bodyPr/>
                    <a:lstStyle/>
                    <a:p>
                      <a:pPr marL="6350" marR="48260" indent="-6350" algn="ctr">
                        <a:lnSpc>
                          <a:spcPct val="107000"/>
                        </a:lnSpc>
                        <a:spcAft>
                          <a:spcPts val="70"/>
                        </a:spcAft>
                        <a:buNone/>
                      </a:pPr>
                      <a:r>
                        <a:rPr lang="en-IN" sz="3200" kern="100">
                          <a:effectLst/>
                        </a:rPr>
                        <a:t>4 switches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9530" indent="-6350" algn="ctr">
                        <a:lnSpc>
                          <a:spcPct val="107000"/>
                        </a:lnSpc>
                        <a:spcAft>
                          <a:spcPts val="70"/>
                        </a:spcAft>
                        <a:buNone/>
                      </a:pPr>
                      <a:r>
                        <a:rPr lang="en-IN" sz="3200" kern="100">
                          <a:effectLst/>
                        </a:rPr>
                        <a:t>₹80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740"/>
                  </a:ext>
                </a:extLst>
              </a:tr>
              <a:tr h="508432">
                <a:tc>
                  <a:txBody>
                    <a:bodyPr/>
                    <a:lstStyle/>
                    <a:p>
                      <a:pPr marL="50800" marR="60960" indent="-6350" algn="ctr">
                        <a:lnSpc>
                          <a:spcPct val="107000"/>
                        </a:lnSpc>
                        <a:spcAft>
                          <a:spcPts val="70"/>
                        </a:spcAft>
                        <a:buNone/>
                      </a:pPr>
                      <a:r>
                        <a:rPr lang="en-IN" sz="3200" kern="100">
                          <a:effectLst/>
                        </a:rPr>
                        <a:t>Jumper wires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50165" indent="-6350" algn="ctr">
                        <a:lnSpc>
                          <a:spcPct val="107000"/>
                        </a:lnSpc>
                        <a:spcAft>
                          <a:spcPts val="70"/>
                        </a:spcAft>
                        <a:buNone/>
                      </a:pPr>
                      <a:r>
                        <a:rPr lang="en-IN" sz="3200" kern="100">
                          <a:effectLst/>
                        </a:rPr>
                        <a:t>₹90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317508"/>
                  </a:ext>
                </a:extLst>
              </a:tr>
              <a:tr h="561983">
                <a:tc>
                  <a:txBody>
                    <a:bodyPr/>
                    <a:lstStyle/>
                    <a:p>
                      <a:pPr marL="6350" marR="48260" indent="-6350" algn="ctr">
                        <a:lnSpc>
                          <a:spcPct val="107000"/>
                        </a:lnSpc>
                        <a:spcAft>
                          <a:spcPts val="70"/>
                        </a:spcAft>
                        <a:buNone/>
                      </a:pPr>
                      <a:r>
                        <a:rPr lang="en-IN" sz="3200" kern="100">
                          <a:effectLst/>
                        </a:rPr>
                        <a:t>Box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7625" indent="-6350" algn="ctr">
                        <a:lnSpc>
                          <a:spcPct val="107000"/>
                        </a:lnSpc>
                        <a:spcAft>
                          <a:spcPts val="70"/>
                        </a:spcAft>
                        <a:buNone/>
                      </a:pPr>
                      <a:r>
                        <a:rPr lang="en-IN" sz="3200" kern="100">
                          <a:effectLst/>
                        </a:rPr>
                        <a:t>₹120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4793046"/>
                  </a:ext>
                </a:extLst>
              </a:tr>
              <a:tr h="554761">
                <a:tc>
                  <a:txBody>
                    <a:bodyPr/>
                    <a:lstStyle/>
                    <a:p>
                      <a:pPr marL="6350" marR="48260" indent="-6350" algn="ctr">
                        <a:lnSpc>
                          <a:spcPct val="107000"/>
                        </a:lnSpc>
                        <a:spcAft>
                          <a:spcPts val="70"/>
                        </a:spcAft>
                        <a:buNone/>
                      </a:pPr>
                      <a:r>
                        <a:rPr lang="en-IN" sz="3200" kern="100">
                          <a:effectLst/>
                        </a:rPr>
                        <a:t>Total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48260" indent="-6350" algn="ctr">
                        <a:lnSpc>
                          <a:spcPct val="107000"/>
                        </a:lnSpc>
                        <a:spcAft>
                          <a:spcPts val="70"/>
                        </a:spcAft>
                        <a:buNone/>
                      </a:pPr>
                      <a:r>
                        <a:rPr lang="en-IN" sz="3200" kern="100">
                          <a:effectLst/>
                        </a:rPr>
                        <a:t>₹ 1440.00 </a:t>
                      </a:r>
                      <a:endParaRPr lang="en-IN" sz="3200" kern="100">
                        <a:solidFill>
                          <a:srgbClr val="000000"/>
                        </a:solidFill>
                        <a:effectLst/>
                        <a:latin typeface="Agrandir" panose="020B0604020202020204" charset="0"/>
                        <a:ea typeface="Times New Roman" panose="02020603050405020304" pitchFamily="18" charset="0"/>
                      </a:endParaRPr>
                    </a:p>
                  </a:txBody>
                  <a:tcPr marL="63500" marR="17145" marT="406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9490101"/>
                  </a:ext>
                </a:extLst>
              </a:tr>
            </a:tbl>
          </a:graphicData>
        </a:graphic>
      </p:graphicFrame>
    </p:spTree>
    <p:extLst>
      <p:ext uri="{BB962C8B-B14F-4D97-AF65-F5344CB8AC3E}">
        <p14:creationId xmlns:p14="http://schemas.microsoft.com/office/powerpoint/2010/main" val="3346430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1DDBC-BCF2-B113-9D41-F263F53020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77878B-5CE0-608D-7183-843A1EF04A7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9C28C4CD-DE48-F7A2-424D-EC7E52EA1A97}"/>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2D1CE90D-4B4E-9743-2B63-1F62AC981436}"/>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5197C077-614B-B149-F98E-AF06829D9B4F}"/>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TextBox 6">
            <a:extLst>
              <a:ext uri="{FF2B5EF4-FFF2-40B4-BE49-F238E27FC236}">
                <a16:creationId xmlns:a16="http://schemas.microsoft.com/office/drawing/2014/main" id="{CBC0DDC9-A5F1-3144-DBD2-C59C40F357F8}"/>
              </a:ext>
            </a:extLst>
          </p:cNvPr>
          <p:cNvSpPr txBox="1"/>
          <p:nvPr/>
        </p:nvSpPr>
        <p:spPr>
          <a:xfrm>
            <a:off x="1262856" y="470237"/>
            <a:ext cx="7079182" cy="1015663"/>
          </a:xfrm>
          <a:prstGeom prst="rect">
            <a:avLst/>
          </a:prstGeom>
          <a:noFill/>
        </p:spPr>
        <p:txBody>
          <a:bodyPr wrap="none" rtlCol="0">
            <a:spAutoFit/>
          </a:bodyPr>
          <a:lstStyle/>
          <a:p>
            <a:r>
              <a:rPr lang="en-US" sz="6000">
                <a:solidFill>
                  <a:schemeClr val="bg1"/>
                </a:solidFill>
                <a:latin typeface="Gagalin" panose="020B0604020202020204" charset="0"/>
              </a:rPr>
              <a:t>COMPONENTS DETAILS</a:t>
            </a:r>
            <a:endParaRPr lang="en-IN" sz="6000">
              <a:solidFill>
                <a:schemeClr val="bg1"/>
              </a:solidFill>
              <a:latin typeface="Gagalin" panose="020B0604020202020204" charset="0"/>
            </a:endParaRPr>
          </a:p>
        </p:txBody>
      </p:sp>
      <p:sp>
        <p:nvSpPr>
          <p:cNvPr id="8" name="TextBox 7">
            <a:extLst>
              <a:ext uri="{FF2B5EF4-FFF2-40B4-BE49-F238E27FC236}">
                <a16:creationId xmlns:a16="http://schemas.microsoft.com/office/drawing/2014/main" id="{C497722F-812C-9672-7D26-01EBC8960E3F}"/>
              </a:ext>
            </a:extLst>
          </p:cNvPr>
          <p:cNvSpPr txBox="1"/>
          <p:nvPr/>
        </p:nvSpPr>
        <p:spPr>
          <a:xfrm>
            <a:off x="1262856" y="1557988"/>
            <a:ext cx="9725184" cy="2492990"/>
          </a:xfrm>
          <a:prstGeom prst="rect">
            <a:avLst/>
          </a:prstGeom>
          <a:noFill/>
        </p:spPr>
        <p:txBody>
          <a:bodyPr wrap="square" rtlCol="0">
            <a:spAutoFit/>
          </a:bodyPr>
          <a:lstStyle/>
          <a:p>
            <a:r>
              <a:rPr lang="en-IN" sz="3200">
                <a:solidFill>
                  <a:schemeClr val="bg1"/>
                </a:solidFill>
                <a:latin typeface="Gagalin" panose="020B0604020202020204" charset="0"/>
              </a:rPr>
              <a:t>ESP-12E ESP8266 Node </a:t>
            </a:r>
            <a:r>
              <a:rPr lang="en-IN" sz="3200" err="1">
                <a:solidFill>
                  <a:schemeClr val="bg1"/>
                </a:solidFill>
                <a:latin typeface="Gagalin" panose="020B0604020202020204" charset="0"/>
              </a:rPr>
              <a:t>Mcu</a:t>
            </a:r>
            <a:r>
              <a:rPr lang="en-IN" sz="3200">
                <a:solidFill>
                  <a:schemeClr val="bg1"/>
                </a:solidFill>
                <a:latin typeface="Gagalin" panose="020B0604020202020204" charset="0"/>
              </a:rPr>
              <a:t>:</a:t>
            </a:r>
          </a:p>
          <a:p>
            <a:br>
              <a:rPr lang="en-US" sz="2400">
                <a:solidFill>
                  <a:schemeClr val="bg1"/>
                </a:solidFill>
                <a:latin typeface="Agrandir" panose="020B0604020202020204" charset="0"/>
              </a:rPr>
            </a:br>
            <a:r>
              <a:rPr lang="en-US" sz="2000">
                <a:solidFill>
                  <a:schemeClr val="bg1"/>
                </a:solidFill>
                <a:latin typeface="Agrandir" panose="020B0604020202020204" charset="0"/>
              </a:rPr>
              <a:t>The brain of the system, this Wi-Fi-enabled development board based on the ESP8266 chip runs the firmware, connects to your router, and hosts the local web server. It processes all logic, from reading button inputs and controlling relays to communicating with the </a:t>
            </a:r>
            <a:r>
              <a:rPr lang="en-US" sz="2000" err="1">
                <a:solidFill>
                  <a:schemeClr val="bg1"/>
                </a:solidFill>
                <a:latin typeface="Agrandir" panose="020B0604020202020204" charset="0"/>
              </a:rPr>
              <a:t>Sinric</a:t>
            </a:r>
            <a:r>
              <a:rPr lang="en-US" sz="2000">
                <a:solidFill>
                  <a:schemeClr val="bg1"/>
                </a:solidFill>
                <a:latin typeface="Agrandir" panose="020B0604020202020204" charset="0"/>
              </a:rPr>
              <a:t> Pro cloud for voice integration, making the entire automation system possible.</a:t>
            </a:r>
          </a:p>
        </p:txBody>
      </p:sp>
      <p:pic>
        <p:nvPicPr>
          <p:cNvPr id="11" name="Picture 10" descr="A circuit board with many different colored wires">
            <a:extLst>
              <a:ext uri="{FF2B5EF4-FFF2-40B4-BE49-F238E27FC236}">
                <a16:creationId xmlns:a16="http://schemas.microsoft.com/office/drawing/2014/main" id="{16716B3E-C704-754F-4CFE-F3D621A0DDC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418738" y="0"/>
            <a:ext cx="5829300" cy="3886200"/>
          </a:xfrm>
          <a:prstGeom prst="rect">
            <a:avLst/>
          </a:prstGeom>
        </p:spPr>
      </p:pic>
      <p:graphicFrame>
        <p:nvGraphicFramePr>
          <p:cNvPr id="10" name="Table 9">
            <a:extLst>
              <a:ext uri="{FF2B5EF4-FFF2-40B4-BE49-F238E27FC236}">
                <a16:creationId xmlns:a16="http://schemas.microsoft.com/office/drawing/2014/main" id="{EB80F6D9-716A-28F6-CA8F-1467A4D23350}"/>
              </a:ext>
            </a:extLst>
          </p:cNvPr>
          <p:cNvGraphicFramePr>
            <a:graphicFrameLocks noGrp="1"/>
          </p:cNvGraphicFramePr>
          <p:nvPr>
            <p:extLst>
              <p:ext uri="{D42A27DB-BD31-4B8C-83A1-F6EECF244321}">
                <p14:modId xmlns:p14="http://schemas.microsoft.com/office/powerpoint/2010/main" val="3015080109"/>
              </p:ext>
            </p:extLst>
          </p:nvPr>
        </p:nvGraphicFramePr>
        <p:xfrm>
          <a:off x="1331638" y="4080346"/>
          <a:ext cx="14020800" cy="6206654"/>
        </p:xfrm>
        <a:graphic>
          <a:graphicData uri="http://schemas.openxmlformats.org/drawingml/2006/table">
            <a:tbl>
              <a:tblPr>
                <a:tableStyleId>{D7AC3CCA-C797-4891-BE02-D94E43425B78}</a:tableStyleId>
              </a:tblPr>
              <a:tblGrid>
                <a:gridCol w="2150429">
                  <a:extLst>
                    <a:ext uri="{9D8B030D-6E8A-4147-A177-3AD203B41FA5}">
                      <a16:colId xmlns:a16="http://schemas.microsoft.com/office/drawing/2014/main" val="453443602"/>
                    </a:ext>
                  </a:extLst>
                </a:gridCol>
                <a:gridCol w="3870773">
                  <a:extLst>
                    <a:ext uri="{9D8B030D-6E8A-4147-A177-3AD203B41FA5}">
                      <a16:colId xmlns:a16="http://schemas.microsoft.com/office/drawing/2014/main" val="1121194714"/>
                    </a:ext>
                  </a:extLst>
                </a:gridCol>
                <a:gridCol w="7999598">
                  <a:extLst>
                    <a:ext uri="{9D8B030D-6E8A-4147-A177-3AD203B41FA5}">
                      <a16:colId xmlns:a16="http://schemas.microsoft.com/office/drawing/2014/main" val="1477577054"/>
                    </a:ext>
                  </a:extLst>
                </a:gridCol>
              </a:tblGrid>
              <a:tr h="403048">
                <a:tc>
                  <a:txBody>
                    <a:bodyPr/>
                    <a:lstStyle/>
                    <a:p>
                      <a:pPr algn="l" fontAlgn="t">
                        <a:lnSpc>
                          <a:spcPct val="100000"/>
                        </a:lnSpc>
                        <a:spcBef>
                          <a:spcPts val="0"/>
                        </a:spcBef>
                        <a:spcAft>
                          <a:spcPts val="0"/>
                        </a:spcAft>
                        <a:buNone/>
                      </a:pPr>
                      <a:r>
                        <a:rPr lang="en-IN"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Pin Category</a:t>
                      </a:r>
                      <a:endPar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endParaRPr>
                    </a:p>
                  </a:txBody>
                  <a:tcPr marL="16509" marR="16509" marT="16509" marB="16509" anchor="ctr"/>
                </a:tc>
                <a:tc>
                  <a:txBody>
                    <a:bodyPr/>
                    <a:lstStyle/>
                    <a:p>
                      <a:pPr algn="l" fontAlgn="t">
                        <a:lnSpc>
                          <a:spcPct val="100000"/>
                        </a:lnSpc>
                        <a:spcBef>
                          <a:spcPts val="0"/>
                        </a:spcBef>
                        <a:spcAft>
                          <a:spcPts val="0"/>
                        </a:spcAft>
                        <a:buNone/>
                      </a:pPr>
                      <a:r>
                        <a:rPr lang="en-IN"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Name</a:t>
                      </a:r>
                      <a:endPar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endParaRPr>
                    </a:p>
                  </a:txBody>
                  <a:tcPr marL="16509" marR="16509" marT="16509" marB="16509" anchor="ctr"/>
                </a:tc>
                <a:tc>
                  <a:txBody>
                    <a:bodyPr/>
                    <a:lstStyle/>
                    <a:p>
                      <a:pPr algn="l" fontAlgn="t">
                        <a:lnSpc>
                          <a:spcPct val="100000"/>
                        </a:lnSpc>
                        <a:spcBef>
                          <a:spcPts val="0"/>
                        </a:spcBef>
                        <a:spcAft>
                          <a:spcPts val="0"/>
                        </a:spcAft>
                        <a:buNone/>
                      </a:pPr>
                      <a:r>
                        <a:rPr lang="en-IN"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Description</a:t>
                      </a:r>
                      <a:endPar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endParaRPr>
                    </a:p>
                  </a:txBody>
                  <a:tcPr marL="16509" marR="16509" marT="16509" marB="16509" anchor="ctr"/>
                </a:tc>
                <a:extLst>
                  <a:ext uri="{0D108BD9-81ED-4DB2-BD59-A6C34878D82A}">
                    <a16:rowId xmlns:a16="http://schemas.microsoft.com/office/drawing/2014/main" val="3744390839"/>
                  </a:ext>
                </a:extLst>
              </a:tr>
              <a:tr h="1870704">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Power</a:t>
                      </a:r>
                    </a:p>
                  </a:txBody>
                  <a:tcPr marL="16509" marR="16509" marT="16509" marB="16509" anchor="ctr"/>
                </a:tc>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Micro-USB, 3.3V, GND, Vin</a:t>
                      </a:r>
                    </a:p>
                  </a:txBody>
                  <a:tcPr marL="16509" marR="16509" marT="16509" marB="16509" anchor="ctr"/>
                </a:tc>
                <a:tc>
                  <a:txBody>
                    <a:bodyPr/>
                    <a:lstStyle/>
                    <a:p>
                      <a:pPr algn="l" fontAlgn="t">
                        <a:lnSpc>
                          <a:spcPct val="100000"/>
                        </a:lnSpc>
                        <a:spcBef>
                          <a:spcPts val="0"/>
                        </a:spcBef>
                        <a:spcAft>
                          <a:spcPts val="0"/>
                        </a:spcAft>
                        <a:buNone/>
                      </a:pPr>
                      <a:r>
                        <a:rPr lang="en-US"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Micro-USB:</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a:t>
                      </a:r>
                      <a:r>
                        <a:rPr lang="en-US" sz="2300" b="0" kern="1000" baseline="0" err="1">
                          <a:solidFill>
                            <a:schemeClr val="bg1"/>
                          </a:solidFill>
                          <a:effectLst/>
                          <a:latin typeface="Aptos" panose="020B0004020202020204" pitchFamily="34" charset="0"/>
                          <a:ea typeface="Calibri" panose="020F0502020204030204" pitchFamily="34" charset="0"/>
                          <a:cs typeface="Calibri" panose="020F0502020204030204" pitchFamily="34" charset="0"/>
                        </a:rPr>
                        <a:t>NodeMCU</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can be powered through the USB port</a:t>
                      </a:r>
                    </a:p>
                    <a:p>
                      <a:pPr algn="l" fontAlgn="t">
                        <a:lnSpc>
                          <a:spcPct val="100000"/>
                        </a:lnSpc>
                        <a:spcBef>
                          <a:spcPts val="0"/>
                        </a:spcBef>
                        <a:spcAft>
                          <a:spcPts val="0"/>
                        </a:spcAft>
                        <a:buNone/>
                      </a:pPr>
                      <a:r>
                        <a:rPr lang="en-US"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3.3V:</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Regulated 3.3V can be supplied to this pin to power the board</a:t>
                      </a:r>
                    </a:p>
                    <a:p>
                      <a:pPr algn="l" fontAlgn="t">
                        <a:lnSpc>
                          <a:spcPct val="100000"/>
                        </a:lnSpc>
                        <a:spcBef>
                          <a:spcPts val="0"/>
                        </a:spcBef>
                        <a:spcAft>
                          <a:spcPts val="0"/>
                        </a:spcAft>
                        <a:buNone/>
                      </a:pPr>
                      <a:r>
                        <a:rPr lang="en-US"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GND:</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Ground pins</a:t>
                      </a:r>
                    </a:p>
                    <a:p>
                      <a:pPr algn="l" fontAlgn="t">
                        <a:lnSpc>
                          <a:spcPct val="100000"/>
                        </a:lnSpc>
                        <a:spcBef>
                          <a:spcPts val="0"/>
                        </a:spcBef>
                        <a:spcAft>
                          <a:spcPts val="0"/>
                        </a:spcAft>
                        <a:buNone/>
                      </a:pPr>
                      <a:r>
                        <a:rPr lang="en-US"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Vin: </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External Power Supply</a:t>
                      </a:r>
                    </a:p>
                  </a:txBody>
                  <a:tcPr marL="16509" marR="16509" marT="16509" marB="16509" anchor="ctr"/>
                </a:tc>
                <a:extLst>
                  <a:ext uri="{0D108BD9-81ED-4DB2-BD59-A6C34878D82A}">
                    <a16:rowId xmlns:a16="http://schemas.microsoft.com/office/drawing/2014/main" val="657716729"/>
                  </a:ext>
                </a:extLst>
              </a:tr>
              <a:tr h="403048">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Control Pins</a:t>
                      </a:r>
                    </a:p>
                  </a:txBody>
                  <a:tcPr marL="16509" marR="16509" marT="16509" marB="16509" anchor="ctr"/>
                </a:tc>
                <a:tc>
                  <a:txBody>
                    <a:bodyPr/>
                    <a:lstStyle/>
                    <a:p>
                      <a:pPr algn="l" fontAlgn="t">
                        <a:lnSpc>
                          <a:spcPct val="100000"/>
                        </a:lnSpc>
                        <a:spcBef>
                          <a:spcPts val="0"/>
                        </a:spcBef>
                        <a:spcAft>
                          <a:spcPts val="0"/>
                        </a:spcAft>
                        <a:buNone/>
                      </a:pPr>
                      <a:r>
                        <a:rPr lang="en-IN" sz="2300" b="1"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EN, RST</a:t>
                      </a:r>
                      <a:endPar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endParaRPr>
                    </a:p>
                  </a:txBody>
                  <a:tcPr marL="16509" marR="16509" marT="16509" marB="16509" anchor="ctr"/>
                </a:tc>
                <a:tc>
                  <a:txBody>
                    <a:bodyPr/>
                    <a:lstStyle/>
                    <a:p>
                      <a:pPr algn="l" fontAlgn="t">
                        <a:lnSpc>
                          <a:spcPct val="100000"/>
                        </a:lnSpc>
                        <a:spcBef>
                          <a:spcPts val="0"/>
                        </a:spcBef>
                        <a:spcAft>
                          <a:spcPts val="0"/>
                        </a:spcAft>
                        <a:buNone/>
                      </a:pP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The pin and the button resets the microcontroller</a:t>
                      </a:r>
                    </a:p>
                  </a:txBody>
                  <a:tcPr marL="16509" marR="16509" marT="16509" marB="16509" anchor="ctr"/>
                </a:tc>
                <a:extLst>
                  <a:ext uri="{0D108BD9-81ED-4DB2-BD59-A6C34878D82A}">
                    <a16:rowId xmlns:a16="http://schemas.microsoft.com/office/drawing/2014/main" val="2211585575"/>
                  </a:ext>
                </a:extLst>
              </a:tr>
              <a:tr h="403048">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Analog Pin</a:t>
                      </a:r>
                    </a:p>
                  </a:txBody>
                  <a:tcPr marL="16509" marR="16509" marT="16509" marB="16509" anchor="ctr"/>
                </a:tc>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A0</a:t>
                      </a:r>
                    </a:p>
                  </a:txBody>
                  <a:tcPr marL="16509" marR="16509" marT="16509" marB="16509" anchor="ctr"/>
                </a:tc>
                <a:tc>
                  <a:txBody>
                    <a:bodyPr/>
                    <a:lstStyle/>
                    <a:p>
                      <a:pPr algn="l" fontAlgn="t">
                        <a:lnSpc>
                          <a:spcPct val="100000"/>
                        </a:lnSpc>
                        <a:spcBef>
                          <a:spcPts val="0"/>
                        </a:spcBef>
                        <a:spcAft>
                          <a:spcPts val="0"/>
                        </a:spcAft>
                        <a:buNone/>
                      </a:pP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Used to measure analog voltage in the range of 0-3.3V</a:t>
                      </a:r>
                    </a:p>
                  </a:txBody>
                  <a:tcPr marL="16509" marR="16509" marT="16509" marB="16509" anchor="ctr"/>
                </a:tc>
                <a:extLst>
                  <a:ext uri="{0D108BD9-81ED-4DB2-BD59-A6C34878D82A}">
                    <a16:rowId xmlns:a16="http://schemas.microsoft.com/office/drawing/2014/main" val="3209283466"/>
                  </a:ext>
                </a:extLst>
              </a:tr>
              <a:tr h="575182">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GPIO Pins</a:t>
                      </a:r>
                    </a:p>
                  </a:txBody>
                  <a:tcPr marL="16509" marR="16509" marT="16509" marB="16509" anchor="ctr"/>
                </a:tc>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GPIO1 to GPIO16</a:t>
                      </a:r>
                    </a:p>
                  </a:txBody>
                  <a:tcPr marL="16509" marR="16509" marT="16509" marB="16509" anchor="ctr"/>
                </a:tc>
                <a:tc>
                  <a:txBody>
                    <a:bodyPr/>
                    <a:lstStyle/>
                    <a:p>
                      <a:pPr algn="l" fontAlgn="t">
                        <a:lnSpc>
                          <a:spcPct val="100000"/>
                        </a:lnSpc>
                        <a:spcBef>
                          <a:spcPts val="0"/>
                        </a:spcBef>
                        <a:spcAft>
                          <a:spcPts val="0"/>
                        </a:spcAft>
                        <a:buNone/>
                      </a:pPr>
                      <a:r>
                        <a:rPr lang="en-US" sz="2300" b="0" kern="1000" baseline="0" err="1">
                          <a:solidFill>
                            <a:schemeClr val="bg1"/>
                          </a:solidFill>
                          <a:effectLst/>
                          <a:latin typeface="Aptos" panose="020B0004020202020204" pitchFamily="34" charset="0"/>
                          <a:ea typeface="Calibri" panose="020F0502020204030204" pitchFamily="34" charset="0"/>
                          <a:cs typeface="Calibri" panose="020F0502020204030204" pitchFamily="34" charset="0"/>
                        </a:rPr>
                        <a:t>NodeMCU</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has 16 </a:t>
                      </a:r>
                      <a:r>
                        <a:rPr lang="en-US" sz="2300" b="0" kern="1000" baseline="0" err="1">
                          <a:solidFill>
                            <a:schemeClr val="bg1"/>
                          </a:solidFill>
                          <a:effectLst/>
                          <a:latin typeface="Aptos" panose="020B0004020202020204" pitchFamily="34" charset="0"/>
                          <a:ea typeface="Calibri" panose="020F0502020204030204" pitchFamily="34" charset="0"/>
                          <a:cs typeface="Calibri" panose="020F0502020204030204" pitchFamily="34" charset="0"/>
                        </a:rPr>
                        <a:t>generapurpose</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input-output pins on its board</a:t>
                      </a:r>
                    </a:p>
                  </a:txBody>
                  <a:tcPr marL="16509" marR="16509" marT="16509" marB="16509" anchor="ctr"/>
                </a:tc>
                <a:extLst>
                  <a:ext uri="{0D108BD9-81ED-4DB2-BD59-A6C34878D82A}">
                    <a16:rowId xmlns:a16="http://schemas.microsoft.com/office/drawing/2014/main" val="305740483"/>
                  </a:ext>
                </a:extLst>
              </a:tr>
              <a:tr h="403048">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SPI Pins</a:t>
                      </a:r>
                    </a:p>
                  </a:txBody>
                  <a:tcPr marL="16509" marR="16509" marT="16509" marB="16509" anchor="ctr"/>
                </a:tc>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SD1, CMD, SD0, CLK</a:t>
                      </a:r>
                    </a:p>
                  </a:txBody>
                  <a:tcPr marL="16509" marR="16509" marT="16509" marB="16509" anchor="ctr"/>
                </a:tc>
                <a:tc>
                  <a:txBody>
                    <a:bodyPr/>
                    <a:lstStyle/>
                    <a:p>
                      <a:pPr algn="l" fontAlgn="t">
                        <a:lnSpc>
                          <a:spcPct val="100000"/>
                        </a:lnSpc>
                        <a:spcBef>
                          <a:spcPts val="0"/>
                        </a:spcBef>
                        <a:spcAft>
                          <a:spcPts val="0"/>
                        </a:spcAft>
                        <a:buNone/>
                      </a:pP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NodeMCU has four pins available for SPI communication.</a:t>
                      </a:r>
                    </a:p>
                  </a:txBody>
                  <a:tcPr marL="16509" marR="16509" marT="16509" marB="16509" anchor="ctr"/>
                </a:tc>
                <a:extLst>
                  <a:ext uri="{0D108BD9-81ED-4DB2-BD59-A6C34878D82A}">
                    <a16:rowId xmlns:a16="http://schemas.microsoft.com/office/drawing/2014/main" val="3080381509"/>
                  </a:ext>
                </a:extLst>
              </a:tr>
              <a:tr h="1378614">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UART Pins</a:t>
                      </a:r>
                    </a:p>
                  </a:txBody>
                  <a:tcPr marL="16509" marR="16509" marT="16509" marB="16509" anchor="ctr"/>
                </a:tc>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TXD0, RXD0, TXD2, RXD2</a:t>
                      </a:r>
                    </a:p>
                  </a:txBody>
                  <a:tcPr marL="16509" marR="16509" marT="16509" marB="16509" anchor="ctr"/>
                </a:tc>
                <a:tc>
                  <a:txBody>
                    <a:bodyPr/>
                    <a:lstStyle/>
                    <a:p>
                      <a:pPr algn="l" fontAlgn="t">
                        <a:lnSpc>
                          <a:spcPct val="100000"/>
                        </a:lnSpc>
                        <a:spcBef>
                          <a:spcPts val="0"/>
                        </a:spcBef>
                        <a:spcAft>
                          <a:spcPts val="0"/>
                        </a:spcAft>
                        <a:buNone/>
                      </a:pPr>
                      <a:r>
                        <a:rPr lang="en-US" sz="2300" b="0" kern="1000" baseline="0" err="1">
                          <a:solidFill>
                            <a:schemeClr val="bg1"/>
                          </a:solidFill>
                          <a:effectLst/>
                          <a:latin typeface="Aptos" panose="020B0004020202020204" pitchFamily="34" charset="0"/>
                          <a:ea typeface="Calibri" panose="020F0502020204030204" pitchFamily="34" charset="0"/>
                          <a:cs typeface="Calibri" panose="020F0502020204030204" pitchFamily="34" charset="0"/>
                        </a:rPr>
                        <a:t>NodeMCU</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has two UART</a:t>
                      </a:r>
                    </a:p>
                    <a:p>
                      <a:pPr algn="l" fontAlgn="t">
                        <a:lnSpc>
                          <a:spcPct val="100000"/>
                        </a:lnSpc>
                        <a:spcBef>
                          <a:spcPts val="0"/>
                        </a:spcBef>
                        <a:spcAft>
                          <a:spcPts val="0"/>
                        </a:spcAft>
                        <a:buNone/>
                      </a:pP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interfaces, UART0 (RXD0 &amp; TXD0) and UART1 (RXD1 &amp; TXD1). </a:t>
                      </a:r>
                    </a:p>
                  </a:txBody>
                  <a:tcPr marL="16509" marR="16509" marT="16509" marB="16509" anchor="ctr"/>
                </a:tc>
                <a:extLst>
                  <a:ext uri="{0D108BD9-81ED-4DB2-BD59-A6C34878D82A}">
                    <a16:rowId xmlns:a16="http://schemas.microsoft.com/office/drawing/2014/main" val="949214416"/>
                  </a:ext>
                </a:extLst>
              </a:tr>
              <a:tr h="769962">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I2C Pins</a:t>
                      </a:r>
                    </a:p>
                  </a:txBody>
                  <a:tcPr marL="16509" marR="16509" marT="16509" marB="16509" anchor="ctr"/>
                </a:tc>
                <a:tc>
                  <a:txBody>
                    <a:bodyPr/>
                    <a:lstStyle/>
                    <a:p>
                      <a:pPr algn="l" fontAlgn="t">
                        <a:lnSpc>
                          <a:spcPct val="100000"/>
                        </a:lnSpc>
                        <a:spcBef>
                          <a:spcPts val="0"/>
                        </a:spcBef>
                        <a:spcAft>
                          <a:spcPts val="0"/>
                        </a:spcAft>
                        <a:buNone/>
                      </a:pPr>
                      <a:r>
                        <a:rPr lang="en-IN"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a:t>
                      </a:r>
                    </a:p>
                  </a:txBody>
                  <a:tcPr marL="16509" marR="16509" marT="16509" marB="16509" anchor="ctr"/>
                </a:tc>
                <a:tc>
                  <a:txBody>
                    <a:bodyPr/>
                    <a:lstStyle/>
                    <a:p>
                      <a:pPr algn="l" fontAlgn="t">
                        <a:lnSpc>
                          <a:spcPct val="100000"/>
                        </a:lnSpc>
                        <a:spcBef>
                          <a:spcPts val="0"/>
                        </a:spcBef>
                        <a:spcAft>
                          <a:spcPts val="0"/>
                        </a:spcAft>
                        <a:buNone/>
                      </a:pPr>
                      <a:r>
                        <a:rPr lang="en-US" sz="2300" b="0" kern="1000" baseline="0" err="1">
                          <a:solidFill>
                            <a:schemeClr val="bg1"/>
                          </a:solidFill>
                          <a:effectLst/>
                          <a:latin typeface="Aptos" panose="020B0004020202020204" pitchFamily="34" charset="0"/>
                          <a:ea typeface="Calibri" panose="020F0502020204030204" pitchFamily="34" charset="0"/>
                          <a:cs typeface="Calibri" panose="020F0502020204030204" pitchFamily="34" charset="0"/>
                        </a:rPr>
                        <a:t>NodeMCU</a:t>
                      </a:r>
                      <a:r>
                        <a:rPr lang="en-US" sz="2300" b="0" kern="1000" baseline="0">
                          <a:solidFill>
                            <a:schemeClr val="bg1"/>
                          </a:solidFill>
                          <a:effectLst/>
                          <a:latin typeface="Aptos" panose="020B0004020202020204" pitchFamily="34" charset="0"/>
                          <a:ea typeface="Calibri" panose="020F0502020204030204" pitchFamily="34" charset="0"/>
                          <a:cs typeface="Calibri" panose="020F0502020204030204" pitchFamily="34" charset="0"/>
                        </a:rPr>
                        <a:t> has I2C functionality support but due to the internal functionality of these pins, you have to find which pin is I2C.</a:t>
                      </a:r>
                    </a:p>
                  </a:txBody>
                  <a:tcPr marL="16509" marR="16509" marT="16509" marB="16509" anchor="ctr"/>
                </a:tc>
                <a:extLst>
                  <a:ext uri="{0D108BD9-81ED-4DB2-BD59-A6C34878D82A}">
                    <a16:rowId xmlns:a16="http://schemas.microsoft.com/office/drawing/2014/main" val="2117228269"/>
                  </a:ext>
                </a:extLst>
              </a:tr>
            </a:tbl>
          </a:graphicData>
        </a:graphic>
      </p:graphicFrame>
    </p:spTree>
    <p:extLst>
      <p:ext uri="{BB962C8B-B14F-4D97-AF65-F5344CB8AC3E}">
        <p14:creationId xmlns:p14="http://schemas.microsoft.com/office/powerpoint/2010/main" val="1333967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2542C-2A07-1B35-24B6-7D19129D24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EA0F649-A44E-6E7D-3D94-1751B3DAEB2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24EB1DFF-0218-12A2-5ED1-CDFE31615D09}"/>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55ED2A34-EB0E-A414-C9E6-7A6527B26EDA}"/>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EDB589C4-D1CE-29C9-3B3A-13006BD4A6CE}"/>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9D0A90E2-55E2-7377-179F-5EABD38E384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7" name="TextBox 6">
            <a:extLst>
              <a:ext uri="{FF2B5EF4-FFF2-40B4-BE49-F238E27FC236}">
                <a16:creationId xmlns:a16="http://schemas.microsoft.com/office/drawing/2014/main" id="{D1DCFAE4-35FE-113F-F7DF-62706954CE99}"/>
              </a:ext>
            </a:extLst>
          </p:cNvPr>
          <p:cNvSpPr txBox="1"/>
          <p:nvPr/>
        </p:nvSpPr>
        <p:spPr>
          <a:xfrm>
            <a:off x="1262856" y="470237"/>
            <a:ext cx="7079182" cy="1015663"/>
          </a:xfrm>
          <a:prstGeom prst="rect">
            <a:avLst/>
          </a:prstGeom>
          <a:noFill/>
        </p:spPr>
        <p:txBody>
          <a:bodyPr wrap="none" rtlCol="0">
            <a:spAutoFit/>
          </a:bodyPr>
          <a:lstStyle/>
          <a:p>
            <a:r>
              <a:rPr lang="en-US" sz="6000">
                <a:solidFill>
                  <a:schemeClr val="bg1"/>
                </a:solidFill>
                <a:latin typeface="Gagalin" panose="020B0604020202020204" charset="0"/>
              </a:rPr>
              <a:t>COMPONENTS DETAILS</a:t>
            </a:r>
            <a:endParaRPr lang="en-IN" sz="6000">
              <a:solidFill>
                <a:schemeClr val="bg1"/>
              </a:solidFill>
              <a:latin typeface="Gagalin" panose="020B0604020202020204" charset="0"/>
            </a:endParaRPr>
          </a:p>
        </p:txBody>
      </p:sp>
      <p:sp>
        <p:nvSpPr>
          <p:cNvPr id="13" name="TextBox 12">
            <a:extLst>
              <a:ext uri="{FF2B5EF4-FFF2-40B4-BE49-F238E27FC236}">
                <a16:creationId xmlns:a16="http://schemas.microsoft.com/office/drawing/2014/main" id="{F0C59D49-4CD3-D057-8D3D-831A43B74C4A}"/>
              </a:ext>
            </a:extLst>
          </p:cNvPr>
          <p:cNvSpPr txBox="1"/>
          <p:nvPr/>
        </p:nvSpPr>
        <p:spPr>
          <a:xfrm>
            <a:off x="1369485" y="2268365"/>
            <a:ext cx="8839199" cy="7909858"/>
          </a:xfrm>
          <a:prstGeom prst="rect">
            <a:avLst/>
          </a:prstGeom>
          <a:noFill/>
        </p:spPr>
        <p:txBody>
          <a:bodyPr wrap="square" rtlCol="0">
            <a:spAutoFit/>
          </a:bodyPr>
          <a:lstStyle/>
          <a:p>
            <a:r>
              <a:rPr lang="en-IN" sz="3200" kern="1300">
                <a:solidFill>
                  <a:schemeClr val="bg1"/>
                </a:solidFill>
                <a:latin typeface="Gagalin" panose="020B0604020202020204" charset="0"/>
              </a:rPr>
              <a:t>4-Channel 5V Relay Module</a:t>
            </a:r>
          </a:p>
          <a:p>
            <a:endParaRPr lang="en-IN" sz="2800" kern="1300">
              <a:solidFill>
                <a:schemeClr val="bg1"/>
              </a:solidFill>
              <a:latin typeface="Agrandir" panose="020B0604020202020204" charset="0"/>
            </a:endParaRPr>
          </a:p>
          <a:p>
            <a:r>
              <a:rPr lang="en-US" sz="2800" kern="1300">
                <a:solidFill>
                  <a:schemeClr val="bg1"/>
                </a:solidFill>
                <a:latin typeface="Agrandir" panose="020B0604020202020204" charset="0"/>
              </a:rPr>
              <a:t>A 4-Channel Relay Module is an electronic device that allows you to control four high-voltage or high-current devices using a low-voltage signal from a microcontroller like Arduino or ESP8266. It's commonly used in home automation, robotics, and industrial control applications. </a:t>
            </a:r>
          </a:p>
          <a:p>
            <a:r>
              <a:rPr lang="en-US" sz="2800" kern="1300">
                <a:solidFill>
                  <a:schemeClr val="bg1"/>
                </a:solidFill>
                <a:latin typeface="Agrandir" panose="020B0604020202020204" charset="0"/>
              </a:rPr>
              <a:t>Key Features: </a:t>
            </a:r>
          </a:p>
          <a:p>
            <a:pPr marL="514350" indent="-514350">
              <a:buAutoNum type="arabicPeriod"/>
            </a:pPr>
            <a:r>
              <a:rPr lang="en-US" sz="2800" kern="1300">
                <a:solidFill>
                  <a:schemeClr val="bg1"/>
                </a:solidFill>
                <a:latin typeface="Agrandir" panose="020B0604020202020204" charset="0"/>
              </a:rPr>
              <a:t>4 Relay Channels: Can control four devices independently.</a:t>
            </a:r>
          </a:p>
          <a:p>
            <a:pPr marL="514350" indent="-514350">
              <a:buAutoNum type="arabicPeriod"/>
            </a:pPr>
            <a:r>
              <a:rPr lang="en-US" sz="2800" kern="1300">
                <a:solidFill>
                  <a:schemeClr val="bg1"/>
                </a:solidFill>
                <a:latin typeface="Agrandir" panose="020B0604020202020204" charset="0"/>
              </a:rPr>
              <a:t>2. High-Current Handling: Each relay can handle high currents (typically 10A or more).</a:t>
            </a:r>
          </a:p>
          <a:p>
            <a:pPr marL="514350" indent="-514350">
              <a:buAutoNum type="arabicPeriod"/>
            </a:pPr>
            <a:r>
              <a:rPr lang="en-US" sz="2800" kern="1300">
                <a:solidFill>
                  <a:schemeClr val="bg1"/>
                </a:solidFill>
                <a:latin typeface="Agrandir" panose="020B0604020202020204" charset="0"/>
              </a:rPr>
              <a:t>3. Low-Voltage Control: Can be controlled using low-voltage signals (3.3V or 5V).</a:t>
            </a:r>
          </a:p>
          <a:p>
            <a:pPr marL="514350" indent="-514350">
              <a:buAutoNum type="arabicPeriod"/>
            </a:pPr>
            <a:r>
              <a:rPr lang="en-US" sz="2800" kern="1300">
                <a:solidFill>
                  <a:schemeClr val="bg1"/>
                </a:solidFill>
                <a:latin typeface="Agrandir" panose="020B0604020202020204" charset="0"/>
              </a:rPr>
              <a:t>4. Isolation: Provides electrical isolation between the control signal and the relay contacts. </a:t>
            </a:r>
          </a:p>
          <a:p>
            <a:pPr marL="514350" indent="-514350">
              <a:buAutoNum type="arabicPeriod"/>
            </a:pPr>
            <a:endParaRPr lang="en-IN" sz="2800" kern="1300">
              <a:solidFill>
                <a:schemeClr val="bg1"/>
              </a:solidFill>
              <a:latin typeface="Agrandir" panose="020B0604020202020204" charset="0"/>
            </a:endParaRPr>
          </a:p>
        </p:txBody>
      </p:sp>
      <p:pic>
        <p:nvPicPr>
          <p:cNvPr id="21" name="Picture 20" descr="A blue circuit board with several relays">
            <a:extLst>
              <a:ext uri="{FF2B5EF4-FFF2-40B4-BE49-F238E27FC236}">
                <a16:creationId xmlns:a16="http://schemas.microsoft.com/office/drawing/2014/main" id="{1660C1B9-851C-0F3A-66AA-A7EA99E605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48060" y="2933700"/>
            <a:ext cx="6050280" cy="3231654"/>
          </a:xfrm>
          <a:prstGeom prst="rect">
            <a:avLst/>
          </a:prstGeom>
        </p:spPr>
      </p:pic>
    </p:spTree>
    <p:extLst>
      <p:ext uri="{BB962C8B-B14F-4D97-AF65-F5344CB8AC3E}">
        <p14:creationId xmlns:p14="http://schemas.microsoft.com/office/powerpoint/2010/main" val="102483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08A2-92B5-CEED-57E8-D28DA54E01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1B3C74-A2C3-499E-00D1-8E8254ED79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C3D58E63-1D0E-9F3B-EC04-73FB6A5BE48F}"/>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B2524820-5B0E-6842-57FC-29E1D47DF277}"/>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C67133A1-8AEB-3B52-6589-0D92F5608421}"/>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86F44274-994B-8319-E12B-4AAAC4B9F75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07F72852-2CC6-0EF6-485D-8A0644D38332}"/>
              </a:ext>
            </a:extLst>
          </p:cNvPr>
          <p:cNvSpPr txBox="1"/>
          <p:nvPr/>
        </p:nvSpPr>
        <p:spPr>
          <a:xfrm>
            <a:off x="1981200" y="2019300"/>
            <a:ext cx="14325600" cy="7048083"/>
          </a:xfrm>
          <a:prstGeom prst="rect">
            <a:avLst/>
          </a:prstGeom>
          <a:noFill/>
        </p:spPr>
        <p:txBody>
          <a:bodyPr wrap="square" rtlCol="0">
            <a:spAutoFit/>
          </a:bodyPr>
          <a:lstStyle/>
          <a:p>
            <a:r>
              <a:rPr lang="en-US" sz="4800">
                <a:solidFill>
                  <a:schemeClr val="bg1"/>
                </a:solidFill>
                <a:latin typeface="Gagalin" panose="020B0604020202020204" charset="0"/>
              </a:rPr>
              <a:t>Software applications like </a:t>
            </a:r>
            <a:r>
              <a:rPr lang="en-US" sz="4800" err="1">
                <a:solidFill>
                  <a:schemeClr val="bg1"/>
                </a:solidFill>
                <a:latin typeface="Gagalin" panose="020B0604020202020204" charset="0"/>
              </a:rPr>
              <a:t>sinric</a:t>
            </a:r>
            <a:r>
              <a:rPr lang="en-US" sz="4800">
                <a:solidFill>
                  <a:schemeClr val="bg1"/>
                </a:solidFill>
                <a:latin typeface="Gagalin" panose="020B0604020202020204" charset="0"/>
              </a:rPr>
              <a:t> pro, amazon </a:t>
            </a:r>
            <a:r>
              <a:rPr lang="en-US" sz="4800" err="1">
                <a:solidFill>
                  <a:schemeClr val="bg1"/>
                </a:solidFill>
                <a:latin typeface="Gagalin" panose="020B0604020202020204" charset="0"/>
              </a:rPr>
              <a:t>alexa</a:t>
            </a:r>
            <a:endParaRPr lang="en-IN" sz="4800">
              <a:solidFill>
                <a:schemeClr val="bg1"/>
              </a:solidFill>
              <a:latin typeface="Gagalin" panose="020B0604020202020204" charset="0"/>
            </a:endParaRPr>
          </a:p>
          <a:p>
            <a:br>
              <a:rPr lang="en-US" sz="3600">
                <a:solidFill>
                  <a:schemeClr val="bg1"/>
                </a:solidFill>
                <a:latin typeface="Agrandir" panose="020B0604020202020204" charset="0"/>
              </a:rPr>
            </a:br>
            <a:r>
              <a:rPr lang="en-US" sz="4000">
                <a:solidFill>
                  <a:schemeClr val="bg1"/>
                </a:solidFill>
                <a:latin typeface="Agrandir" panose="020B0604020202020204" charset="0"/>
              </a:rPr>
              <a:t>The Arduino IDE is used to write and upload code to the </a:t>
            </a:r>
            <a:r>
              <a:rPr lang="en-US" sz="4000" err="1">
                <a:solidFill>
                  <a:schemeClr val="bg1"/>
                </a:solidFill>
                <a:latin typeface="Agrandir" panose="020B0604020202020204" charset="0"/>
              </a:rPr>
              <a:t>NodeMCU</a:t>
            </a:r>
            <a:r>
              <a:rPr lang="en-US" sz="4000">
                <a:solidFill>
                  <a:schemeClr val="bg1"/>
                </a:solidFill>
                <a:latin typeface="Agrandir" panose="020B0604020202020204" charset="0"/>
              </a:rPr>
              <a:t>. The ESP8266 core package is installed to add board support for Wi-Fi functionalities. The </a:t>
            </a:r>
            <a:r>
              <a:rPr lang="en-US" sz="4000" err="1">
                <a:solidFill>
                  <a:schemeClr val="bg1"/>
                </a:solidFill>
                <a:latin typeface="Agrandir" panose="020B0604020202020204" charset="0"/>
              </a:rPr>
              <a:t>Sinric</a:t>
            </a:r>
            <a:r>
              <a:rPr lang="en-US" sz="4000">
                <a:solidFill>
                  <a:schemeClr val="bg1"/>
                </a:solidFill>
                <a:latin typeface="Agrandir" panose="020B0604020202020204" charset="0"/>
              </a:rPr>
              <a:t> Pro cloud platform and its library act as the bridge for voice control. The Amazon Alexa and Google Home apps are used to discover and manage the connected devices. Finally, the Serial Monitor within the IDE is crucial for debugging and monitoring the system's operation.</a:t>
            </a:r>
            <a:endParaRPr lang="en-IN" sz="3600">
              <a:solidFill>
                <a:schemeClr val="bg1"/>
              </a:solidFill>
              <a:latin typeface="Agrandir" panose="020B0604020202020204" charset="0"/>
            </a:endParaRPr>
          </a:p>
        </p:txBody>
      </p:sp>
    </p:spTree>
    <p:extLst>
      <p:ext uri="{BB962C8B-B14F-4D97-AF65-F5344CB8AC3E}">
        <p14:creationId xmlns:p14="http://schemas.microsoft.com/office/powerpoint/2010/main" val="56319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A2AA-00CD-BF68-D3E7-469301FB69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FD61B6-DDC1-5DFE-D818-0C46746A5C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BE463352-20E2-C14D-9702-35FC105B55F4}"/>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604CC91F-3A57-0833-8B61-3049F7F324F8}"/>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2F81DA4E-77C9-6128-BDA3-F78037C28B6B}"/>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D14C1D54-13D7-7D8C-817F-1D09EFA19A6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681F7ECE-E85E-AF81-7878-44456540DD02}"/>
              </a:ext>
            </a:extLst>
          </p:cNvPr>
          <p:cNvSpPr txBox="1"/>
          <p:nvPr/>
        </p:nvSpPr>
        <p:spPr>
          <a:xfrm>
            <a:off x="1981200" y="2019300"/>
            <a:ext cx="14935200" cy="6894195"/>
          </a:xfrm>
          <a:prstGeom prst="rect">
            <a:avLst/>
          </a:prstGeom>
          <a:noFill/>
        </p:spPr>
        <p:txBody>
          <a:bodyPr wrap="square" rtlCol="0">
            <a:spAutoFit/>
          </a:bodyPr>
          <a:lstStyle/>
          <a:p>
            <a:r>
              <a:rPr lang="en-IN" sz="4800">
                <a:solidFill>
                  <a:schemeClr val="bg1"/>
                </a:solidFill>
                <a:latin typeface="Gagalin" panose="020B0604020202020204" charset="0"/>
              </a:rPr>
              <a:t>Hardware Implementation</a:t>
            </a:r>
            <a:endParaRPr lang="en-IN" sz="3200">
              <a:solidFill>
                <a:schemeClr val="bg1"/>
              </a:solidFill>
              <a:latin typeface="Agrandir" panose="020B0604020202020204" charset="0"/>
            </a:endParaRPr>
          </a:p>
          <a:p>
            <a:pPr>
              <a:spcBef>
                <a:spcPts val="1200"/>
              </a:spcBef>
              <a:spcAft>
                <a:spcPts val="1200"/>
              </a:spcAft>
            </a:pPr>
            <a:r>
              <a:rPr lang="en-US" sz="2700">
                <a:solidFill>
                  <a:schemeClr val="bg1"/>
                </a:solidFill>
                <a:latin typeface="Agrandir" panose="020B0604020202020204" charset="0"/>
              </a:rPr>
              <a:t>The circuit is very simple, I have used D1, D2, D5 &amp; D6 GPIO to control the 4- channel relay </a:t>
            </a:r>
            <a:r>
              <a:rPr lang="en-US" sz="2700" err="1">
                <a:solidFill>
                  <a:schemeClr val="bg1"/>
                </a:solidFill>
                <a:latin typeface="Agrandir" panose="020B0604020202020204" charset="0"/>
              </a:rPr>
              <a:t>module.And</a:t>
            </a:r>
            <a:r>
              <a:rPr lang="en-US" sz="2700">
                <a:solidFill>
                  <a:schemeClr val="bg1"/>
                </a:solidFill>
                <a:latin typeface="Agrandir" panose="020B0604020202020204" charset="0"/>
              </a:rPr>
              <a:t> the GPIO SD3, D3, D7 &amp; RX are connected with manual switches to control the relay module manually.</a:t>
            </a:r>
          </a:p>
          <a:p>
            <a:pPr>
              <a:spcBef>
                <a:spcPts val="1200"/>
              </a:spcBef>
              <a:spcAft>
                <a:spcPts val="1200"/>
              </a:spcAft>
            </a:pPr>
            <a:r>
              <a:rPr lang="en-US" sz="2700">
                <a:solidFill>
                  <a:schemeClr val="bg1"/>
                </a:solidFill>
                <a:latin typeface="Agrandir" panose="020B0604020202020204" charset="0"/>
              </a:rPr>
              <a:t>    I have used the INPUT_PULLUP function in Arduino IDE instead of using the pull-up resistors with each </a:t>
            </a:r>
            <a:r>
              <a:rPr lang="en-US" sz="2700" err="1">
                <a:solidFill>
                  <a:schemeClr val="bg1"/>
                </a:solidFill>
                <a:latin typeface="Agrandir" panose="020B0604020202020204" charset="0"/>
              </a:rPr>
              <a:t>switch.As</a:t>
            </a:r>
            <a:r>
              <a:rPr lang="en-US" sz="2700">
                <a:solidFill>
                  <a:schemeClr val="bg1"/>
                </a:solidFill>
                <a:latin typeface="Agrandir" panose="020B0604020202020204" charset="0"/>
              </a:rPr>
              <a:t> per the source code, when the control pins of the relay module receive the LOW signal the respective relay will turn on and the relay will turn off for the HIGH signal in the control </a:t>
            </a:r>
            <a:r>
              <a:rPr lang="en-US" sz="2700" err="1">
                <a:solidFill>
                  <a:schemeClr val="bg1"/>
                </a:solidFill>
                <a:latin typeface="Agrandir" panose="020B0604020202020204" charset="0"/>
              </a:rPr>
              <a:t>pin.I</a:t>
            </a:r>
            <a:r>
              <a:rPr lang="en-US" sz="2700">
                <a:solidFill>
                  <a:schemeClr val="bg1"/>
                </a:solidFill>
                <a:latin typeface="Agrandir" panose="020B0604020202020204" charset="0"/>
              </a:rPr>
              <a:t> have used a 5V 2Amp mobile charger to supply the circuit.</a:t>
            </a:r>
          </a:p>
          <a:p>
            <a:pPr>
              <a:spcBef>
                <a:spcPts val="1200"/>
              </a:spcBef>
              <a:spcAft>
                <a:spcPts val="1200"/>
              </a:spcAft>
            </a:pPr>
            <a:r>
              <a:rPr lang="en-US" sz="2700">
                <a:solidFill>
                  <a:schemeClr val="bg1"/>
                </a:solidFill>
                <a:latin typeface="Agrandir" panose="020B0604020202020204" charset="0"/>
              </a:rPr>
              <a:t> **The Boot will fail if SD3 and D3 are grounded during the Boot process. So manual switch-S1 and switch-S2 must be OFF during </a:t>
            </a:r>
            <a:r>
              <a:rPr lang="en-US" sz="2700" err="1">
                <a:solidFill>
                  <a:schemeClr val="bg1"/>
                </a:solidFill>
                <a:latin typeface="Agrandir" panose="020B0604020202020204" charset="0"/>
              </a:rPr>
              <a:t>NodeMCU</a:t>
            </a:r>
            <a:r>
              <a:rPr lang="en-US" sz="2700">
                <a:solidFill>
                  <a:schemeClr val="bg1"/>
                </a:solidFill>
                <a:latin typeface="Agrandir" panose="020B0604020202020204" charset="0"/>
              </a:rPr>
              <a:t> Boot. </a:t>
            </a:r>
          </a:p>
          <a:p>
            <a:pPr>
              <a:spcBef>
                <a:spcPts val="1200"/>
              </a:spcBef>
              <a:spcAft>
                <a:spcPts val="1200"/>
              </a:spcAft>
            </a:pPr>
            <a:r>
              <a:rPr lang="en-US" sz="2700">
                <a:solidFill>
                  <a:schemeClr val="bg1"/>
                </a:solidFill>
                <a:latin typeface="Agrandir" panose="020B0604020202020204" charset="0"/>
              </a:rPr>
              <a:t>Now, if you want to use pushbuttons then just connect the pushbuttons across the GPIO pins and GND pin instead of switches. </a:t>
            </a:r>
            <a:endParaRPr lang="en-IN" sz="2700">
              <a:solidFill>
                <a:schemeClr val="bg1"/>
              </a:solidFill>
              <a:latin typeface="Agrandir" panose="020B0604020202020204" charset="0"/>
            </a:endParaRPr>
          </a:p>
        </p:txBody>
      </p:sp>
    </p:spTree>
    <p:extLst>
      <p:ext uri="{BB962C8B-B14F-4D97-AF65-F5344CB8AC3E}">
        <p14:creationId xmlns:p14="http://schemas.microsoft.com/office/powerpoint/2010/main" val="2179665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7B4D4-B87F-93F3-84FA-478AA460A4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6910E91-5A16-348E-DED1-AD9C2275C3A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DAECC817-9FF9-2527-EB1F-C017382A1212}"/>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58D8E5FA-590D-3B2B-B0A9-6E2EB377FEC3}"/>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1BB5F03F-E52B-DBCF-DD23-355618ED7005}"/>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EBEAE5D5-0042-9A01-6AC8-42725A3274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44FFFB33-D136-DABE-4E8C-220E97E45F23}"/>
              </a:ext>
            </a:extLst>
          </p:cNvPr>
          <p:cNvSpPr txBox="1"/>
          <p:nvPr/>
        </p:nvSpPr>
        <p:spPr>
          <a:xfrm>
            <a:off x="1981200" y="2019300"/>
            <a:ext cx="14935200" cy="830997"/>
          </a:xfrm>
          <a:prstGeom prst="rect">
            <a:avLst/>
          </a:prstGeom>
          <a:noFill/>
        </p:spPr>
        <p:txBody>
          <a:bodyPr wrap="square" rtlCol="0">
            <a:spAutoFit/>
          </a:bodyPr>
          <a:lstStyle/>
          <a:p>
            <a:r>
              <a:rPr lang="en-IN" sz="4800">
                <a:solidFill>
                  <a:schemeClr val="bg1"/>
                </a:solidFill>
                <a:latin typeface="Gagalin" panose="020B0604020202020204" charset="0"/>
              </a:rPr>
              <a:t>Hardware connections:</a:t>
            </a:r>
            <a:endParaRPr lang="en-IN" sz="3200">
              <a:solidFill>
                <a:schemeClr val="bg1"/>
              </a:solidFill>
              <a:latin typeface="Agrandir" panose="020B0604020202020204" charset="0"/>
            </a:endParaRPr>
          </a:p>
        </p:txBody>
      </p:sp>
      <p:pic>
        <p:nvPicPr>
          <p:cNvPr id="3074" name="Picture 2" descr="NodeMCU home automation circuit">
            <a:extLst>
              <a:ext uri="{FF2B5EF4-FFF2-40B4-BE49-F238E27FC236}">
                <a16:creationId xmlns:a16="http://schemas.microsoft.com/office/drawing/2014/main" id="{CEB85147-182D-9BAA-332A-D3D7C374B13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1050" y="2850296"/>
            <a:ext cx="16306800" cy="7436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780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7DF72-AC48-228C-4774-35F3F286DD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CF044A-8B76-D3E9-4921-70AFBAABB7D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7694BC69-9FA1-BDC8-9BAB-D1C3053B7364}"/>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F41C0B7F-DF84-0D27-A0B5-4F1044C07F05}"/>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101D09EB-48AB-34C7-ABA2-6627BECDF245}"/>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689D58B0-03E5-EF6D-5D52-87AC30B44F7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8BFF3C88-A410-CADF-B32E-370458DDFA3C}"/>
              </a:ext>
            </a:extLst>
          </p:cNvPr>
          <p:cNvSpPr txBox="1"/>
          <p:nvPr/>
        </p:nvSpPr>
        <p:spPr>
          <a:xfrm>
            <a:off x="1981200" y="2019300"/>
            <a:ext cx="14935200" cy="8217634"/>
          </a:xfrm>
          <a:prstGeom prst="rect">
            <a:avLst/>
          </a:prstGeom>
          <a:noFill/>
        </p:spPr>
        <p:txBody>
          <a:bodyPr wrap="square" rtlCol="0">
            <a:spAutoFit/>
          </a:bodyPr>
          <a:lstStyle/>
          <a:p>
            <a:r>
              <a:rPr lang="en-IN" sz="4800">
                <a:solidFill>
                  <a:schemeClr val="bg1"/>
                </a:solidFill>
                <a:latin typeface="Gagalin" panose="020B0604020202020204" charset="0"/>
              </a:rPr>
              <a:t>Software code for </a:t>
            </a:r>
            <a:r>
              <a:rPr lang="en-IN" sz="4800" err="1">
                <a:solidFill>
                  <a:schemeClr val="bg1"/>
                </a:solidFill>
                <a:latin typeface="Gagalin" panose="020B0604020202020204" charset="0"/>
              </a:rPr>
              <a:t>nodemcu</a:t>
            </a:r>
            <a:r>
              <a:rPr lang="en-IN" sz="4800">
                <a:solidFill>
                  <a:schemeClr val="bg1"/>
                </a:solidFill>
                <a:latin typeface="Gagalin" panose="020B0604020202020204" charset="0"/>
              </a:rPr>
              <a:t>: </a:t>
            </a:r>
            <a:endParaRPr lang="en-IN" sz="2600">
              <a:solidFill>
                <a:schemeClr val="bg1"/>
              </a:solidFill>
              <a:latin typeface="Agrandir" panose="020B0604020202020204" charset="0"/>
            </a:endParaRPr>
          </a:p>
          <a:p>
            <a:pPr>
              <a:spcBef>
                <a:spcPts val="600"/>
              </a:spcBef>
              <a:spcAft>
                <a:spcPts val="600"/>
              </a:spcAft>
            </a:pPr>
            <a:r>
              <a:rPr lang="en-US" sz="2400">
                <a:solidFill>
                  <a:schemeClr val="bg1"/>
                </a:solidFill>
                <a:latin typeface="Agrandir" panose="020B0604020202020204" charset="0"/>
              </a:rPr>
              <a:t>All the steps to program the </a:t>
            </a:r>
            <a:r>
              <a:rPr lang="en-US" sz="2400" err="1">
                <a:solidFill>
                  <a:schemeClr val="bg1"/>
                </a:solidFill>
                <a:latin typeface="Agrandir" panose="020B0604020202020204" charset="0"/>
              </a:rPr>
              <a:t>NodeMCU</a:t>
            </a:r>
            <a:r>
              <a:rPr lang="en-US" sz="2400">
                <a:solidFill>
                  <a:schemeClr val="bg1"/>
                </a:solidFill>
                <a:latin typeface="Agrandir" panose="020B0604020202020204" charset="0"/>
              </a:rPr>
              <a:t> using Arduino IDE.</a:t>
            </a:r>
          </a:p>
          <a:p>
            <a:pPr>
              <a:spcBef>
                <a:spcPts val="600"/>
              </a:spcBef>
              <a:spcAft>
                <a:spcPts val="600"/>
              </a:spcAft>
            </a:pPr>
            <a:r>
              <a:rPr lang="en-US" sz="2400">
                <a:solidFill>
                  <a:schemeClr val="bg1"/>
                </a:solidFill>
                <a:latin typeface="Agrandir" panose="020B0604020202020204" charset="0"/>
              </a:rPr>
              <a:t>Update the Preferences –&gt; </a:t>
            </a:r>
            <a:r>
              <a:rPr lang="en-US" sz="2400" err="1">
                <a:solidFill>
                  <a:schemeClr val="bg1"/>
                </a:solidFill>
                <a:latin typeface="Agrandir" panose="020B0604020202020204" charset="0"/>
              </a:rPr>
              <a:t>Aditional</a:t>
            </a:r>
            <a:r>
              <a:rPr lang="en-US" sz="2400">
                <a:solidFill>
                  <a:schemeClr val="bg1"/>
                </a:solidFill>
                <a:latin typeface="Agrandir" panose="020B0604020202020204" charset="0"/>
              </a:rPr>
              <a:t> boards Manager URLs: https://dl.espressif.com/dl/package_esp32_index.json, http://arduino.esp8266.com/stable/package_esp8266com_index.json</a:t>
            </a:r>
          </a:p>
          <a:p>
            <a:pPr>
              <a:spcBef>
                <a:spcPts val="600"/>
              </a:spcBef>
              <a:spcAft>
                <a:spcPts val="600"/>
              </a:spcAft>
            </a:pPr>
            <a:r>
              <a:rPr lang="en-US" sz="2400">
                <a:solidFill>
                  <a:schemeClr val="bg1"/>
                </a:solidFill>
                <a:latin typeface="Agrandir" panose="020B0604020202020204" charset="0"/>
              </a:rPr>
              <a:t>Then install the ESP8266 board from the Board manager or </a:t>
            </a:r>
            <a:r>
              <a:rPr lang="en-US" sz="2400">
                <a:solidFill>
                  <a:schemeClr val="bg1"/>
                </a:solidFill>
                <a:latin typeface="Agrandir" panose="020B0604020202020204" charset="0"/>
                <a:hlinkClick r:id="rId10">
                  <a:extLst>
                    <a:ext uri="{A12FA001-AC4F-418D-AE19-62706E023703}">
                      <ahyp:hlinkClr xmlns:ahyp="http://schemas.microsoft.com/office/drawing/2018/hyperlinkcolor" val="tx"/>
                    </a:ext>
                  </a:extLst>
                </a:hlinkClick>
              </a:rPr>
              <a:t>Click Here</a:t>
            </a:r>
            <a:r>
              <a:rPr lang="en-US" sz="2400">
                <a:solidFill>
                  <a:schemeClr val="bg1"/>
                </a:solidFill>
                <a:latin typeface="Agrandir" panose="020B0604020202020204" charset="0"/>
              </a:rPr>
              <a:t> to download the ESP8266 board.</a:t>
            </a:r>
          </a:p>
          <a:p>
            <a:pPr>
              <a:spcBef>
                <a:spcPts val="600"/>
              </a:spcBef>
              <a:spcAft>
                <a:spcPts val="600"/>
              </a:spcAft>
            </a:pPr>
            <a:r>
              <a:rPr lang="en-US" sz="2400">
                <a:solidFill>
                  <a:schemeClr val="bg1"/>
                </a:solidFill>
                <a:latin typeface="Agrandir" panose="020B0604020202020204" charset="0"/>
              </a:rPr>
              <a:t>Download the required libraries from the following links: </a:t>
            </a:r>
            <a:r>
              <a:rPr lang="en-US" sz="2400" err="1">
                <a:solidFill>
                  <a:schemeClr val="bg1"/>
                </a:solidFill>
                <a:latin typeface="Agrandir" panose="020B0604020202020204" charset="0"/>
              </a:rPr>
              <a:t>Siniric</a:t>
            </a:r>
            <a:r>
              <a:rPr lang="en-US" sz="2400">
                <a:solidFill>
                  <a:schemeClr val="bg1"/>
                </a:solidFill>
                <a:latin typeface="Agrandir" panose="020B0604020202020204" charset="0"/>
              </a:rPr>
              <a:t> </a:t>
            </a:r>
            <a:r>
              <a:rPr lang="en-US" sz="2400">
                <a:solidFill>
                  <a:schemeClr val="bg1"/>
                </a:solidFill>
                <a:latin typeface="Agrandir" panose="020B0604020202020204" charset="0"/>
                <a:hlinkClick r:id="rId11">
                  <a:extLst>
                    <a:ext uri="{A12FA001-AC4F-418D-AE19-62706E023703}">
                      <ahyp:hlinkClr xmlns:ahyp="http://schemas.microsoft.com/office/drawing/2018/hyperlinkcolor" val="tx"/>
                    </a:ext>
                  </a:extLst>
                </a:hlinkClick>
              </a:rPr>
              <a:t>Pro</a:t>
            </a:r>
            <a:r>
              <a:rPr lang="en-US" sz="2400">
                <a:solidFill>
                  <a:schemeClr val="bg1"/>
                </a:solidFill>
                <a:latin typeface="Agrandir" panose="020B0604020202020204" charset="0"/>
              </a:rPr>
              <a:t> by Boris Jaeger (Download </a:t>
            </a:r>
            <a:r>
              <a:rPr lang="en-US" sz="2400" err="1">
                <a:solidFill>
                  <a:schemeClr val="bg1"/>
                </a:solidFill>
                <a:latin typeface="Agrandir" panose="020B0604020202020204" charset="0"/>
              </a:rPr>
              <a:t>Sinric</a:t>
            </a:r>
            <a:r>
              <a:rPr lang="en-US" sz="2400">
                <a:solidFill>
                  <a:schemeClr val="bg1"/>
                </a:solidFill>
                <a:latin typeface="Agrandir" panose="020B0604020202020204" charset="0"/>
              </a:rPr>
              <a:t> Pro examples for ESP8266 &amp; ESP32)</a:t>
            </a:r>
          </a:p>
          <a:p>
            <a:pPr>
              <a:spcBef>
                <a:spcPts val="600"/>
              </a:spcBef>
              <a:spcAft>
                <a:spcPts val="600"/>
              </a:spcAft>
            </a:pPr>
            <a:r>
              <a:rPr lang="en-US" sz="2400" err="1">
                <a:solidFill>
                  <a:schemeClr val="bg1"/>
                </a:solidFill>
                <a:latin typeface="Agrandir" panose="020B0604020202020204" charset="0"/>
                <a:hlinkClick r:id="rId12">
                  <a:extLst>
                    <a:ext uri="{A12FA001-AC4F-418D-AE19-62706E023703}">
                      <ahyp:hlinkClr xmlns:ahyp="http://schemas.microsoft.com/office/drawing/2018/hyperlinkcolor" val="tx"/>
                    </a:ext>
                  </a:extLst>
                </a:hlinkClick>
              </a:rPr>
              <a:t>WebSockets</a:t>
            </a:r>
            <a:r>
              <a:rPr lang="en-US" sz="2400">
                <a:solidFill>
                  <a:schemeClr val="bg1"/>
                </a:solidFill>
                <a:latin typeface="Agrandir" panose="020B0604020202020204" charset="0"/>
              </a:rPr>
              <a:t> by Markus Sattler (minimum Version 2.3.5)</a:t>
            </a:r>
          </a:p>
          <a:p>
            <a:pPr>
              <a:spcBef>
                <a:spcPts val="600"/>
              </a:spcBef>
              <a:spcAft>
                <a:spcPts val="600"/>
              </a:spcAft>
            </a:pPr>
            <a:r>
              <a:rPr lang="en-US" sz="2400" err="1">
                <a:solidFill>
                  <a:schemeClr val="bg1"/>
                </a:solidFill>
                <a:latin typeface="Agrandir" panose="020B0604020202020204" charset="0"/>
                <a:hlinkClick r:id="rId13">
                  <a:extLst>
                    <a:ext uri="{A12FA001-AC4F-418D-AE19-62706E023703}">
                      <ahyp:hlinkClr xmlns:ahyp="http://schemas.microsoft.com/office/drawing/2018/hyperlinkcolor" val="tx"/>
                    </a:ext>
                  </a:extLst>
                </a:hlinkClick>
              </a:rPr>
              <a:t>ArduinoJson</a:t>
            </a:r>
            <a:r>
              <a:rPr lang="en-US" sz="2400">
                <a:solidFill>
                  <a:schemeClr val="bg1"/>
                </a:solidFill>
                <a:latin typeface="Agrandir" panose="020B0604020202020204" charset="0"/>
              </a:rPr>
              <a:t> by Benoit </a:t>
            </a:r>
            <a:r>
              <a:rPr lang="en-US" sz="2400" err="1">
                <a:solidFill>
                  <a:schemeClr val="bg1"/>
                </a:solidFill>
                <a:latin typeface="Agrandir" panose="020B0604020202020204" charset="0"/>
              </a:rPr>
              <a:t>Blanchon</a:t>
            </a:r>
            <a:r>
              <a:rPr lang="en-US" sz="2400">
                <a:solidFill>
                  <a:schemeClr val="bg1"/>
                </a:solidFill>
                <a:latin typeface="Agrandir" panose="020B0604020202020204" charset="0"/>
              </a:rPr>
              <a:t> (minimum Version 6.12.0)</a:t>
            </a:r>
          </a:p>
          <a:p>
            <a:pPr>
              <a:spcBef>
                <a:spcPts val="600"/>
              </a:spcBef>
              <a:spcAft>
                <a:spcPts val="600"/>
              </a:spcAft>
            </a:pPr>
            <a:r>
              <a:rPr lang="en-US" sz="2400">
                <a:solidFill>
                  <a:schemeClr val="bg1"/>
                </a:solidFill>
                <a:latin typeface="Agrandir" panose="020B0604020202020204" charset="0"/>
                <a:hlinkClick r:id="rId14">
                  <a:extLst>
                    <a:ext uri="{A12FA001-AC4F-418D-AE19-62706E023703}">
                      <ahyp:hlinkClr xmlns:ahyp="http://schemas.microsoft.com/office/drawing/2018/hyperlinkcolor" val="tx"/>
                    </a:ext>
                  </a:extLst>
                </a:hlinkClick>
              </a:rPr>
              <a:t>Click Here</a:t>
            </a:r>
            <a:r>
              <a:rPr lang="en-US" sz="2400">
                <a:solidFill>
                  <a:schemeClr val="bg1"/>
                </a:solidFill>
                <a:latin typeface="Agrandir" panose="020B0604020202020204" charset="0"/>
              </a:rPr>
              <a:t> to visit the GitHub page of </a:t>
            </a:r>
            <a:r>
              <a:rPr lang="en-US" sz="2400" err="1">
                <a:solidFill>
                  <a:schemeClr val="bg1"/>
                </a:solidFill>
                <a:latin typeface="Agrandir" panose="020B0604020202020204" charset="0"/>
              </a:rPr>
              <a:t>Sinric</a:t>
            </a:r>
            <a:r>
              <a:rPr lang="en-US" sz="2400">
                <a:solidFill>
                  <a:schemeClr val="bg1"/>
                </a:solidFill>
                <a:latin typeface="Agrandir" panose="020B0604020202020204" charset="0"/>
              </a:rPr>
              <a:t> Pro for more details.</a:t>
            </a:r>
          </a:p>
          <a:p>
            <a:pPr>
              <a:spcBef>
                <a:spcPts val="600"/>
              </a:spcBef>
              <a:spcAft>
                <a:spcPts val="600"/>
              </a:spcAft>
            </a:pPr>
            <a:r>
              <a:rPr lang="en-US" sz="2400">
                <a:solidFill>
                  <a:schemeClr val="bg1"/>
                </a:solidFill>
                <a:latin typeface="Agrandir" panose="020B0604020202020204" charset="0"/>
              </a:rPr>
              <a:t>**Please download the latest version of the libraries from the given links. Then install the libraries at Arduino IDE – Sketch – Include Library – Add Zip Library.</a:t>
            </a:r>
            <a:endParaRPr lang="en-IN" sz="2400">
              <a:solidFill>
                <a:schemeClr val="bg1"/>
              </a:solidFill>
              <a:latin typeface="Agrandir" panose="020B0604020202020204" charset="0"/>
            </a:endParaRPr>
          </a:p>
          <a:p>
            <a:pPr marL="571500" indent="-571500">
              <a:buFont typeface="Arial" panose="020B0604020202020204" pitchFamily="34" charset="0"/>
              <a:buChar char="•"/>
            </a:pPr>
            <a:r>
              <a:rPr lang="en-IN" sz="4400">
                <a:solidFill>
                  <a:srgbClr val="FF0000"/>
                </a:solidFill>
                <a:latin typeface="Agrandir" panose="020B0604020202020204" charset="0"/>
                <a:hlinkClick r:id="rId15">
                  <a:extLst>
                    <a:ext uri="{A12FA001-AC4F-418D-AE19-62706E023703}">
                      <ahyp:hlinkClr xmlns:ahyp="http://schemas.microsoft.com/office/drawing/2018/hyperlinkcolor" val="tx"/>
                    </a:ext>
                  </a:extLst>
                </a:hlinkClick>
              </a:rPr>
              <a:t>https://github.com/nenpece0236-droid/Automation-code.git</a:t>
            </a:r>
            <a:endParaRPr lang="en-IN" sz="4400">
              <a:solidFill>
                <a:srgbClr val="FF0000"/>
              </a:solidFill>
              <a:latin typeface="Agrandir" panose="020B0604020202020204" charset="0"/>
            </a:endParaRPr>
          </a:p>
        </p:txBody>
      </p:sp>
    </p:spTree>
    <p:extLst>
      <p:ext uri="{BB962C8B-B14F-4D97-AF65-F5344CB8AC3E}">
        <p14:creationId xmlns:p14="http://schemas.microsoft.com/office/powerpoint/2010/main" val="1582519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9157-360F-2CB4-6FB9-55132569B8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0C0983-8C33-2318-004A-8F49A17DABB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04DB55CC-CA5D-6060-B5C8-28F435856DF3}"/>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30F9BF57-8E12-A1B6-4884-8E340C581C2C}"/>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DEA53333-B293-646A-D4C3-86D5D7384AD4}"/>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500A1F68-EFBA-73C8-2F91-DB28F9728C8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23031F10-7FBF-50BD-8E7E-01702C268A95}"/>
              </a:ext>
            </a:extLst>
          </p:cNvPr>
          <p:cNvSpPr txBox="1"/>
          <p:nvPr/>
        </p:nvSpPr>
        <p:spPr>
          <a:xfrm>
            <a:off x="1338213" y="2052665"/>
            <a:ext cx="14935200" cy="7940635"/>
          </a:xfrm>
          <a:prstGeom prst="rect">
            <a:avLst/>
          </a:prstGeom>
          <a:noFill/>
        </p:spPr>
        <p:txBody>
          <a:bodyPr wrap="square" rtlCol="0">
            <a:spAutoFit/>
          </a:bodyPr>
          <a:lstStyle/>
          <a:p>
            <a:r>
              <a:rPr lang="en-US" sz="4800">
                <a:solidFill>
                  <a:schemeClr val="bg1"/>
                </a:solidFill>
                <a:latin typeface="Gagalin" panose="020B0604020202020204" charset="0"/>
              </a:rPr>
              <a:t>Controlling the System with Voice Assistants</a:t>
            </a:r>
            <a:endParaRPr lang="en-IN" sz="4800">
              <a:solidFill>
                <a:schemeClr val="bg1"/>
              </a:solidFill>
              <a:latin typeface="Gagalin" panose="020B0604020202020204" charset="0"/>
            </a:endParaRPr>
          </a:p>
          <a:p>
            <a:pPr>
              <a:spcBef>
                <a:spcPts val="1200"/>
              </a:spcBef>
              <a:spcAft>
                <a:spcPts val="1200"/>
              </a:spcAft>
            </a:pPr>
            <a:r>
              <a:rPr lang="en-US" sz="2400">
                <a:solidFill>
                  <a:schemeClr val="bg1"/>
                </a:solidFill>
                <a:latin typeface="Agrandir" panose="020B0604020202020204" charset="0"/>
              </a:rPr>
              <a:t>Using Amazon Alexa</a:t>
            </a:r>
          </a:p>
          <a:p>
            <a:pPr marL="514350" indent="-514350">
              <a:spcBef>
                <a:spcPts val="1200"/>
              </a:spcBef>
              <a:spcAft>
                <a:spcPts val="1200"/>
              </a:spcAft>
              <a:buAutoNum type="arabicPeriod"/>
            </a:pPr>
            <a:r>
              <a:rPr lang="en-US" sz="2400">
                <a:solidFill>
                  <a:schemeClr val="bg1"/>
                </a:solidFill>
                <a:latin typeface="Agrandir" panose="020B0604020202020204" charset="0"/>
              </a:rPr>
              <a:t>Setup: Enable the </a:t>
            </a:r>
            <a:r>
              <a:rPr lang="en-US" sz="2400" err="1">
                <a:solidFill>
                  <a:schemeClr val="bg1"/>
                </a:solidFill>
                <a:latin typeface="Agrandir" panose="020B0604020202020204" charset="0"/>
              </a:rPr>
              <a:t>Sinric</a:t>
            </a:r>
            <a:r>
              <a:rPr lang="en-US" sz="2400">
                <a:solidFill>
                  <a:schemeClr val="bg1"/>
                </a:solidFill>
                <a:latin typeface="Agrandir" panose="020B0604020202020204" charset="0"/>
              </a:rPr>
              <a:t> Pro skill in the Amazon Alexa app and link your account.</a:t>
            </a:r>
          </a:p>
          <a:p>
            <a:pPr marL="514350" indent="-514350">
              <a:spcBef>
                <a:spcPts val="1200"/>
              </a:spcBef>
              <a:spcAft>
                <a:spcPts val="1200"/>
              </a:spcAft>
              <a:buAutoNum type="arabicPeriod"/>
            </a:pPr>
            <a:r>
              <a:rPr lang="en-US" sz="2400">
                <a:solidFill>
                  <a:schemeClr val="bg1"/>
                </a:solidFill>
                <a:latin typeface="Agrandir" panose="020B0604020202020204" charset="0"/>
              </a:rPr>
              <a:t>2. Voice Commands: Use voice commands like "Alexa, turn on device 1" or "Alexa, turn off device 2" to control your appliances. </a:t>
            </a:r>
          </a:p>
          <a:p>
            <a:pPr>
              <a:spcBef>
                <a:spcPts val="1200"/>
              </a:spcBef>
              <a:spcAft>
                <a:spcPts val="1200"/>
              </a:spcAft>
            </a:pPr>
            <a:r>
              <a:rPr lang="en-US" sz="2400">
                <a:solidFill>
                  <a:schemeClr val="bg1"/>
                </a:solidFill>
                <a:latin typeface="Agrandir" panose="020B0604020202020204" charset="0"/>
              </a:rPr>
              <a:t>Using Google Home</a:t>
            </a:r>
          </a:p>
          <a:p>
            <a:pPr marL="514350" indent="-514350">
              <a:spcBef>
                <a:spcPts val="1200"/>
              </a:spcBef>
              <a:spcAft>
                <a:spcPts val="1200"/>
              </a:spcAft>
              <a:buAutoNum type="arabicPeriod"/>
            </a:pPr>
            <a:r>
              <a:rPr lang="en-US" sz="2400">
                <a:solidFill>
                  <a:schemeClr val="bg1"/>
                </a:solidFill>
                <a:latin typeface="Agrandir" panose="020B0604020202020204" charset="0"/>
              </a:rPr>
              <a:t>Setup: Link your </a:t>
            </a:r>
            <a:r>
              <a:rPr lang="en-US" sz="2400" err="1">
                <a:solidFill>
                  <a:schemeClr val="bg1"/>
                </a:solidFill>
                <a:latin typeface="Agrandir" panose="020B0604020202020204" charset="0"/>
              </a:rPr>
              <a:t>Sinric</a:t>
            </a:r>
            <a:r>
              <a:rPr lang="en-US" sz="2400">
                <a:solidFill>
                  <a:schemeClr val="bg1"/>
                </a:solidFill>
                <a:latin typeface="Agrandir" panose="020B0604020202020204" charset="0"/>
              </a:rPr>
              <a:t> Pro account to Google Home and assign devices to rooms.</a:t>
            </a:r>
          </a:p>
          <a:p>
            <a:pPr marL="514350" indent="-514350">
              <a:spcBef>
                <a:spcPts val="1200"/>
              </a:spcBef>
              <a:spcAft>
                <a:spcPts val="1200"/>
              </a:spcAft>
              <a:buAutoNum type="arabicPeriod"/>
            </a:pPr>
            <a:r>
              <a:rPr lang="en-US" sz="2400">
                <a:solidFill>
                  <a:schemeClr val="bg1"/>
                </a:solidFill>
                <a:latin typeface="Agrandir" panose="020B0604020202020204" charset="0"/>
              </a:rPr>
              <a:t>2. Voice Commands: Use voice commands like "Hey Google, turn on device 1" or "Hey Google, turn off device 2" to control your appliances. </a:t>
            </a:r>
          </a:p>
          <a:p>
            <a:pPr>
              <a:spcBef>
                <a:spcPts val="1200"/>
              </a:spcBef>
              <a:spcAft>
                <a:spcPts val="1200"/>
              </a:spcAft>
            </a:pPr>
            <a:r>
              <a:rPr lang="en-US" sz="2400">
                <a:solidFill>
                  <a:schemeClr val="bg1"/>
                </a:solidFill>
                <a:latin typeface="Agrandir" panose="020B0604020202020204" charset="0"/>
              </a:rPr>
              <a:t>How it Works </a:t>
            </a:r>
          </a:p>
          <a:p>
            <a:pPr>
              <a:spcBef>
                <a:spcPts val="1200"/>
              </a:spcBef>
              <a:spcAft>
                <a:spcPts val="1200"/>
              </a:spcAft>
            </a:pPr>
            <a:r>
              <a:rPr lang="en-US" sz="2400">
                <a:solidFill>
                  <a:schemeClr val="bg1"/>
                </a:solidFill>
                <a:latin typeface="Agrandir" panose="020B0604020202020204" charset="0"/>
              </a:rPr>
              <a:t>The system uses the ESP8266 microcontroller to connect to the internet and communicate with the </a:t>
            </a:r>
            <a:r>
              <a:rPr lang="en-US" sz="2400" err="1">
                <a:solidFill>
                  <a:schemeClr val="bg1"/>
                </a:solidFill>
                <a:latin typeface="Agrandir" panose="020B0604020202020204" charset="0"/>
              </a:rPr>
              <a:t>Sinric</a:t>
            </a:r>
            <a:r>
              <a:rPr lang="en-US" sz="2400">
                <a:solidFill>
                  <a:schemeClr val="bg1"/>
                </a:solidFill>
                <a:latin typeface="Agrandir" panose="020B0604020202020204" charset="0"/>
              </a:rPr>
              <a:t> Pro server. The </a:t>
            </a:r>
            <a:r>
              <a:rPr lang="en-US" sz="2400" err="1">
                <a:solidFill>
                  <a:schemeClr val="bg1"/>
                </a:solidFill>
                <a:latin typeface="Agrandir" panose="020B0604020202020204" charset="0"/>
              </a:rPr>
              <a:t>Sinric</a:t>
            </a:r>
            <a:r>
              <a:rPr lang="en-US" sz="2400">
                <a:solidFill>
                  <a:schemeClr val="bg1"/>
                </a:solidFill>
                <a:latin typeface="Agrandir" panose="020B0604020202020204" charset="0"/>
              </a:rPr>
              <a:t> Pro server integrates with Amazon Alexa and Google Home, allowing you to control your devices using voice commands. When you issue a voice command, the server sends a signal to the ESP8266, which then controls the relay module to turn devices on or off. </a:t>
            </a:r>
            <a:endParaRPr lang="en-IN" sz="2400">
              <a:solidFill>
                <a:schemeClr val="bg1"/>
              </a:solidFill>
              <a:latin typeface="Agrandir" panose="020B0604020202020204" charset="0"/>
            </a:endParaRPr>
          </a:p>
        </p:txBody>
      </p:sp>
    </p:spTree>
    <p:extLst>
      <p:ext uri="{BB962C8B-B14F-4D97-AF65-F5344CB8AC3E}">
        <p14:creationId xmlns:p14="http://schemas.microsoft.com/office/powerpoint/2010/main" val="101211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52CE0-2E21-DC2A-6DCC-11A851AFDC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9DBE071-1652-40CA-D6AE-D86590E8AD3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38A4D206-09FE-7BC3-FA82-41D3ECFD10E7}"/>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B922DEF2-A91C-8DA1-9740-537A5F817E15}"/>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C11A8F6A-D51C-B2CD-1740-729267E6A7DF}"/>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3C5206A1-6911-D9B1-34C3-0FF7B63F79B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2CFBA920-66AA-5C3E-ABCF-438CEAA08B6F}"/>
              </a:ext>
            </a:extLst>
          </p:cNvPr>
          <p:cNvSpPr txBox="1"/>
          <p:nvPr/>
        </p:nvSpPr>
        <p:spPr>
          <a:xfrm>
            <a:off x="1295400" y="1485900"/>
            <a:ext cx="14935200" cy="9171742"/>
          </a:xfrm>
          <a:prstGeom prst="rect">
            <a:avLst/>
          </a:prstGeom>
          <a:noFill/>
        </p:spPr>
        <p:txBody>
          <a:bodyPr wrap="square" rtlCol="0">
            <a:spAutoFit/>
          </a:bodyPr>
          <a:lstStyle/>
          <a:p>
            <a:r>
              <a:rPr lang="en-US" sz="4800">
                <a:solidFill>
                  <a:schemeClr val="bg1"/>
                </a:solidFill>
                <a:latin typeface="Gagalin" panose="020B0604020202020204" charset="0"/>
              </a:rPr>
              <a:t>Applications</a:t>
            </a:r>
            <a:endParaRPr lang="en-IN" sz="4800">
              <a:solidFill>
                <a:schemeClr val="bg1"/>
              </a:solidFill>
              <a:latin typeface="Gagalin" panose="020B0604020202020204" charset="0"/>
            </a:endParaRPr>
          </a:p>
          <a:p>
            <a:pPr>
              <a:spcBef>
                <a:spcPts val="1200"/>
              </a:spcBef>
              <a:spcAft>
                <a:spcPts val="1200"/>
              </a:spcAft>
            </a:pPr>
            <a:r>
              <a:rPr lang="en-US" sz="2400">
                <a:solidFill>
                  <a:schemeClr val="bg1"/>
                </a:solidFill>
                <a:latin typeface="Agrandir" panose="020B0604020202020204" charset="0"/>
              </a:rPr>
              <a:t>Smart home systems (lights, fans, AC, and plugs). </a:t>
            </a:r>
          </a:p>
          <a:p>
            <a:pPr>
              <a:spcBef>
                <a:spcPts val="1200"/>
              </a:spcBef>
              <a:spcAft>
                <a:spcPts val="1200"/>
              </a:spcAft>
            </a:pPr>
            <a:r>
              <a:rPr lang="en-US" sz="2400">
                <a:solidFill>
                  <a:schemeClr val="bg1"/>
                </a:solidFill>
                <a:latin typeface="Agrandir" panose="020B0604020202020204" charset="0"/>
              </a:rPr>
              <a:t>Office or industrial automation.</a:t>
            </a:r>
          </a:p>
          <a:p>
            <a:pPr>
              <a:spcBef>
                <a:spcPts val="1200"/>
              </a:spcBef>
              <a:spcAft>
                <a:spcPts val="1200"/>
              </a:spcAft>
            </a:pPr>
            <a:r>
              <a:rPr lang="en-US" sz="2400">
                <a:solidFill>
                  <a:schemeClr val="bg1"/>
                </a:solidFill>
                <a:latin typeface="Agrandir" panose="020B0604020202020204" charset="0"/>
              </a:rPr>
              <a:t>Energy monitoring and scheduling.</a:t>
            </a:r>
          </a:p>
          <a:p>
            <a:pPr>
              <a:spcBef>
                <a:spcPts val="1200"/>
              </a:spcBef>
              <a:spcAft>
                <a:spcPts val="1200"/>
              </a:spcAft>
            </a:pPr>
            <a:r>
              <a:rPr lang="en-US" sz="2400">
                <a:solidFill>
                  <a:schemeClr val="bg1"/>
                </a:solidFill>
                <a:latin typeface="Agrandir" panose="020B0604020202020204" charset="0"/>
              </a:rPr>
              <a:t>IoT-based security systems.</a:t>
            </a:r>
          </a:p>
          <a:p>
            <a:pPr>
              <a:spcBef>
                <a:spcPts val="1200"/>
              </a:spcBef>
              <a:spcAft>
                <a:spcPts val="1200"/>
              </a:spcAft>
            </a:pPr>
            <a:r>
              <a:rPr lang="en-US" sz="2400">
                <a:solidFill>
                  <a:schemeClr val="bg1"/>
                </a:solidFill>
                <a:latin typeface="Agrandir" panose="020B0604020202020204" charset="0"/>
              </a:rPr>
              <a:t>Voice-controlled home automation with Alexa or Google Assistant (extension).</a:t>
            </a:r>
          </a:p>
          <a:p>
            <a:pPr>
              <a:spcBef>
                <a:spcPts val="1200"/>
              </a:spcBef>
              <a:spcAft>
                <a:spcPts val="1200"/>
              </a:spcAft>
            </a:pPr>
            <a:r>
              <a:rPr lang="en-US" sz="4800">
                <a:solidFill>
                  <a:schemeClr val="bg1"/>
                </a:solidFill>
                <a:latin typeface="Gagalin" panose="020B0604020202020204" charset="0"/>
              </a:rPr>
              <a:t>Advantages:</a:t>
            </a:r>
            <a:endParaRPr lang="en-US" sz="2400">
              <a:solidFill>
                <a:schemeClr val="bg1"/>
              </a:solidFill>
              <a:latin typeface="Agrandir" panose="020B0604020202020204" charset="0"/>
            </a:endParaRPr>
          </a:p>
          <a:p>
            <a:pPr>
              <a:spcBef>
                <a:spcPts val="1200"/>
              </a:spcBef>
              <a:spcAft>
                <a:spcPts val="1200"/>
              </a:spcAft>
            </a:pPr>
            <a:r>
              <a:rPr lang="en-US" sz="2400">
                <a:solidFill>
                  <a:schemeClr val="bg1"/>
                </a:solidFill>
                <a:latin typeface="Agrandir" panose="020B0604020202020204" charset="0"/>
              </a:rPr>
              <a:t>Wi-Fi based control (no need for Bluetooth range limitations).</a:t>
            </a:r>
          </a:p>
          <a:p>
            <a:pPr>
              <a:spcBef>
                <a:spcPts val="1200"/>
              </a:spcBef>
              <a:spcAft>
                <a:spcPts val="1200"/>
              </a:spcAft>
            </a:pPr>
            <a:r>
              <a:rPr lang="en-US" sz="2400">
                <a:solidFill>
                  <a:schemeClr val="bg1"/>
                </a:solidFill>
                <a:latin typeface="Agrandir" panose="020B0604020202020204" charset="0"/>
              </a:rPr>
              <a:t>Can be accessed via any device connected to the same network.</a:t>
            </a:r>
          </a:p>
          <a:p>
            <a:pPr>
              <a:spcBef>
                <a:spcPts val="1200"/>
              </a:spcBef>
              <a:spcAft>
                <a:spcPts val="1200"/>
              </a:spcAft>
            </a:pPr>
            <a:r>
              <a:rPr lang="en-US" sz="2400">
                <a:solidFill>
                  <a:schemeClr val="bg1"/>
                </a:solidFill>
                <a:latin typeface="Agrandir" panose="020B0604020202020204" charset="0"/>
              </a:rPr>
              <a:t>Compact and low-cost IoT solution.</a:t>
            </a:r>
          </a:p>
          <a:p>
            <a:pPr>
              <a:spcBef>
                <a:spcPts val="1200"/>
              </a:spcBef>
              <a:spcAft>
                <a:spcPts val="1200"/>
              </a:spcAft>
            </a:pPr>
            <a:r>
              <a:rPr lang="en-US" sz="2400">
                <a:solidFill>
                  <a:schemeClr val="bg1"/>
                </a:solidFill>
                <a:latin typeface="Agrandir" panose="020B0604020202020204" charset="0"/>
              </a:rPr>
              <a:t>Easily expandable to more devices or sensors.</a:t>
            </a:r>
          </a:p>
          <a:p>
            <a:pPr>
              <a:spcBef>
                <a:spcPts val="1200"/>
              </a:spcBef>
              <a:spcAft>
                <a:spcPts val="1200"/>
              </a:spcAft>
            </a:pPr>
            <a:r>
              <a:rPr lang="en-US" sz="2400">
                <a:solidFill>
                  <a:schemeClr val="bg1"/>
                </a:solidFill>
                <a:latin typeface="Agrandir" panose="020B0604020202020204" charset="0"/>
              </a:rPr>
              <a:t>Can be integrated with cloud platforms like Blynk, </a:t>
            </a:r>
            <a:r>
              <a:rPr lang="en-US" sz="2400" err="1">
                <a:solidFill>
                  <a:schemeClr val="bg1"/>
                </a:solidFill>
                <a:latin typeface="Agrandir" panose="020B0604020202020204" charset="0"/>
              </a:rPr>
              <a:t>ThingSpeak</a:t>
            </a:r>
            <a:r>
              <a:rPr lang="en-US" sz="2400">
                <a:solidFill>
                  <a:schemeClr val="bg1"/>
                </a:solidFill>
                <a:latin typeface="Agrandir" panose="020B0604020202020204" charset="0"/>
              </a:rPr>
              <a:t>, or Firebase. </a:t>
            </a:r>
            <a:endParaRPr lang="en-IN" sz="2400">
              <a:solidFill>
                <a:schemeClr val="bg1"/>
              </a:solidFill>
              <a:latin typeface="Agrandir" panose="020B0604020202020204" charset="0"/>
            </a:endParaRPr>
          </a:p>
          <a:p>
            <a:pPr>
              <a:spcBef>
                <a:spcPts val="1200"/>
              </a:spcBef>
              <a:spcAft>
                <a:spcPts val="1200"/>
              </a:spcAft>
            </a:pPr>
            <a:endParaRPr lang="en-IN" sz="2400">
              <a:solidFill>
                <a:schemeClr val="bg1"/>
              </a:solidFill>
              <a:latin typeface="Agrandir" panose="020B0604020202020204" charset="0"/>
            </a:endParaRPr>
          </a:p>
        </p:txBody>
      </p:sp>
    </p:spTree>
    <p:extLst>
      <p:ext uri="{BB962C8B-B14F-4D97-AF65-F5344CB8AC3E}">
        <p14:creationId xmlns:p14="http://schemas.microsoft.com/office/powerpoint/2010/main" val="2471638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1F221-E53B-7E9A-FC9D-5487E333BC1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566812-50D8-3F0B-15CF-7FDF98930A5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3" name="Freeform 3">
            <a:extLst>
              <a:ext uri="{FF2B5EF4-FFF2-40B4-BE49-F238E27FC236}">
                <a16:creationId xmlns:a16="http://schemas.microsoft.com/office/drawing/2014/main" id="{D9324ECB-C0AF-6C79-7AD6-E5C0658A7A68}"/>
              </a:ext>
            </a:extLst>
          </p:cNvPr>
          <p:cNvSpPr/>
          <p:nvPr/>
        </p:nvSpPr>
        <p:spPr>
          <a:xfrm rot="-5180099">
            <a:off x="-2121109" y="-1728229"/>
            <a:ext cx="5404659" cy="4965653"/>
          </a:xfrm>
          <a:custGeom>
            <a:avLst/>
            <a:gdLst/>
            <a:ahLst/>
            <a:cxnLst/>
            <a:rect l="l" t="t" r="r" b="b"/>
            <a:pathLst>
              <a:path w="5404659" h="4965653">
                <a:moveTo>
                  <a:pt x="0" y="0"/>
                </a:moveTo>
                <a:lnTo>
                  <a:pt x="5404659" y="0"/>
                </a:lnTo>
                <a:lnTo>
                  <a:pt x="5404659" y="4965653"/>
                </a:lnTo>
                <a:lnTo>
                  <a:pt x="0" y="4965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9D6FF261-883A-AFA3-18BB-04BDA2EB8558}"/>
              </a:ext>
            </a:extLst>
          </p:cNvPr>
          <p:cNvSpPr/>
          <p:nvPr/>
        </p:nvSpPr>
        <p:spPr>
          <a:xfrm>
            <a:off x="17259300" y="2421473"/>
            <a:ext cx="2677253" cy="2594501"/>
          </a:xfrm>
          <a:custGeom>
            <a:avLst/>
            <a:gdLst/>
            <a:ahLst/>
            <a:cxnLst/>
            <a:rect l="l" t="t" r="r" b="b"/>
            <a:pathLst>
              <a:path w="2677253" h="2594501">
                <a:moveTo>
                  <a:pt x="0" y="0"/>
                </a:moveTo>
                <a:lnTo>
                  <a:pt x="2677253" y="0"/>
                </a:lnTo>
                <a:lnTo>
                  <a:pt x="2677253" y="2594501"/>
                </a:lnTo>
                <a:lnTo>
                  <a:pt x="0" y="259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a:extLst>
              <a:ext uri="{FF2B5EF4-FFF2-40B4-BE49-F238E27FC236}">
                <a16:creationId xmlns:a16="http://schemas.microsoft.com/office/drawing/2014/main" id="{23954F54-C134-DACF-7EBE-2547079B8D83}"/>
              </a:ext>
            </a:extLst>
          </p:cNvPr>
          <p:cNvSpPr/>
          <p:nvPr/>
        </p:nvSpPr>
        <p:spPr>
          <a:xfrm rot="-10675024">
            <a:off x="12627981" y="5394758"/>
            <a:ext cx="7260384" cy="7233983"/>
          </a:xfrm>
          <a:custGeom>
            <a:avLst/>
            <a:gdLst/>
            <a:ahLst/>
            <a:cxnLst/>
            <a:rect l="l" t="t" r="r" b="b"/>
            <a:pathLst>
              <a:path w="7260384" h="7233983">
                <a:moveTo>
                  <a:pt x="0" y="0"/>
                </a:moveTo>
                <a:lnTo>
                  <a:pt x="7260385" y="0"/>
                </a:lnTo>
                <a:lnTo>
                  <a:pt x="7260385" y="7233982"/>
                </a:lnTo>
                <a:lnTo>
                  <a:pt x="0" y="72339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4" name="Picture 3" descr="A close up of a logo">
            <a:extLst>
              <a:ext uri="{FF2B5EF4-FFF2-40B4-BE49-F238E27FC236}">
                <a16:creationId xmlns:a16="http://schemas.microsoft.com/office/drawing/2014/main" id="{8DF820C3-0DD5-B11E-F6D3-C436236BDF3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
        <p:nvSpPr>
          <p:cNvPr id="8" name="TextBox 7">
            <a:extLst>
              <a:ext uri="{FF2B5EF4-FFF2-40B4-BE49-F238E27FC236}">
                <a16:creationId xmlns:a16="http://schemas.microsoft.com/office/drawing/2014/main" id="{312A4B13-0F06-E230-18B8-FDE56BC34EB4}"/>
              </a:ext>
            </a:extLst>
          </p:cNvPr>
          <p:cNvSpPr txBox="1"/>
          <p:nvPr/>
        </p:nvSpPr>
        <p:spPr>
          <a:xfrm>
            <a:off x="1322973" y="3049212"/>
            <a:ext cx="14935200" cy="4431983"/>
          </a:xfrm>
          <a:prstGeom prst="rect">
            <a:avLst/>
          </a:prstGeom>
          <a:noFill/>
        </p:spPr>
        <p:txBody>
          <a:bodyPr wrap="square" rtlCol="0">
            <a:spAutoFit/>
          </a:bodyPr>
          <a:lstStyle/>
          <a:p>
            <a:r>
              <a:rPr lang="en-US" sz="4800">
                <a:solidFill>
                  <a:schemeClr val="bg1"/>
                </a:solidFill>
                <a:latin typeface="Gagalin" panose="020B0604020202020204" charset="0"/>
              </a:rPr>
              <a:t>conclusion</a:t>
            </a:r>
            <a:endParaRPr lang="en-IN" sz="2400">
              <a:solidFill>
                <a:schemeClr val="bg1"/>
              </a:solidFill>
              <a:latin typeface="Agrandir" panose="020B0604020202020204" charset="0"/>
            </a:endParaRPr>
          </a:p>
          <a:p>
            <a:pPr>
              <a:spcBef>
                <a:spcPts val="1200"/>
              </a:spcBef>
              <a:spcAft>
                <a:spcPts val="1200"/>
              </a:spcAft>
            </a:pPr>
            <a:r>
              <a:rPr lang="en-US" sz="3200">
                <a:solidFill>
                  <a:schemeClr val="bg1"/>
                </a:solidFill>
                <a:latin typeface="Agrandir" panose="020B0604020202020204" charset="0"/>
              </a:rPr>
              <a:t>The Home Node Automation using ESP8266 successfully demonstrates a simple and efficient system to control household appliances through Wi-Fi. The </a:t>
            </a:r>
            <a:r>
              <a:rPr lang="en-US" sz="3200" err="1">
                <a:solidFill>
                  <a:schemeClr val="bg1"/>
                </a:solidFill>
                <a:latin typeface="Agrandir" panose="020B0604020202020204" charset="0"/>
              </a:rPr>
              <a:t>NodeMCU</a:t>
            </a:r>
            <a:r>
              <a:rPr lang="en-US" sz="3200">
                <a:solidFill>
                  <a:schemeClr val="bg1"/>
                </a:solidFill>
                <a:latin typeface="Agrandir" panose="020B0604020202020204" charset="0"/>
              </a:rPr>
              <a:t> board, with its built-in Wi-Fi capability, allows remote access and monitoring of connected devices via a smartphone or computer browser. This project highlights the role of IoT and microcontrollers in developing smart, energy-efficient homes and forms the foundation for future automation systems.</a:t>
            </a:r>
            <a:endParaRPr lang="en-IN" sz="3200">
              <a:solidFill>
                <a:schemeClr val="bg1"/>
              </a:solidFill>
              <a:latin typeface="Agrandir" panose="020B0604020202020204" charset="0"/>
            </a:endParaRPr>
          </a:p>
        </p:txBody>
      </p:sp>
    </p:spTree>
    <p:extLst>
      <p:ext uri="{BB962C8B-B14F-4D97-AF65-F5344CB8AC3E}">
        <p14:creationId xmlns:p14="http://schemas.microsoft.com/office/powerpoint/2010/main" val="309638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53F0C-80EB-6D9E-AF75-1FFD3BF3E6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0AC161-430F-9D2D-A24C-39B16033D61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sp>
      <p:sp>
        <p:nvSpPr>
          <p:cNvPr id="10" name="Freeform 10">
            <a:extLst>
              <a:ext uri="{FF2B5EF4-FFF2-40B4-BE49-F238E27FC236}">
                <a16:creationId xmlns:a16="http://schemas.microsoft.com/office/drawing/2014/main" id="{A1C461D7-3274-5C44-381F-2805F258D7B7}"/>
              </a:ext>
            </a:extLst>
          </p:cNvPr>
          <p:cNvSpPr/>
          <p:nvPr/>
        </p:nvSpPr>
        <p:spPr>
          <a:xfrm>
            <a:off x="-2965721" y="4089393"/>
            <a:ext cx="8022190" cy="9004499"/>
          </a:xfrm>
          <a:custGeom>
            <a:avLst/>
            <a:gdLst/>
            <a:ahLst/>
            <a:cxnLst/>
            <a:rect l="l" t="t" r="r" b="b"/>
            <a:pathLst>
              <a:path w="8022190" h="9004499">
                <a:moveTo>
                  <a:pt x="0" y="0"/>
                </a:moveTo>
                <a:lnTo>
                  <a:pt x="8022190" y="0"/>
                </a:lnTo>
                <a:lnTo>
                  <a:pt x="8022190" y="9004499"/>
                </a:lnTo>
                <a:lnTo>
                  <a:pt x="0" y="90044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08142EB8-9192-90DA-93B5-081A5DF9EFE6}"/>
              </a:ext>
            </a:extLst>
          </p:cNvPr>
          <p:cNvSpPr/>
          <p:nvPr/>
        </p:nvSpPr>
        <p:spPr>
          <a:xfrm rot="-708578">
            <a:off x="-1267102" y="6977379"/>
            <a:ext cx="3471112" cy="4126136"/>
          </a:xfrm>
          <a:custGeom>
            <a:avLst/>
            <a:gdLst/>
            <a:ahLst/>
            <a:cxnLst/>
            <a:rect l="l" t="t" r="r" b="b"/>
            <a:pathLst>
              <a:path w="3471112" h="4126136">
                <a:moveTo>
                  <a:pt x="0" y="0"/>
                </a:moveTo>
                <a:lnTo>
                  <a:pt x="3471111" y="0"/>
                </a:lnTo>
                <a:lnTo>
                  <a:pt x="3471111" y="4126135"/>
                </a:lnTo>
                <a:lnTo>
                  <a:pt x="0" y="412613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a:extLst>
              <a:ext uri="{FF2B5EF4-FFF2-40B4-BE49-F238E27FC236}">
                <a16:creationId xmlns:a16="http://schemas.microsoft.com/office/drawing/2014/main" id="{7F3F7E7B-5BDD-6C9E-D2DB-F2A54F1ED94F}"/>
              </a:ext>
            </a:extLst>
          </p:cNvPr>
          <p:cNvGrpSpPr/>
          <p:nvPr/>
        </p:nvGrpSpPr>
        <p:grpSpPr>
          <a:xfrm>
            <a:off x="1336813" y="2429699"/>
            <a:ext cx="4793454" cy="6828601"/>
            <a:chOff x="0" y="-433983"/>
            <a:chExt cx="6391272" cy="9104801"/>
          </a:xfrm>
        </p:grpSpPr>
        <p:sp>
          <p:nvSpPr>
            <p:cNvPr id="15" name="TextBox 15">
              <a:extLst>
                <a:ext uri="{FF2B5EF4-FFF2-40B4-BE49-F238E27FC236}">
                  <a16:creationId xmlns:a16="http://schemas.microsoft.com/office/drawing/2014/main" id="{809A0300-2F9D-BB4A-34B8-95B711490FEF}"/>
                </a:ext>
              </a:extLst>
            </p:cNvPr>
            <p:cNvSpPr txBox="1"/>
            <p:nvPr/>
          </p:nvSpPr>
          <p:spPr>
            <a:xfrm>
              <a:off x="3701" y="-433983"/>
              <a:ext cx="6387571" cy="9104801"/>
            </a:xfrm>
            <a:prstGeom prst="rect">
              <a:avLst/>
            </a:prstGeom>
          </p:spPr>
          <p:txBody>
            <a:bodyPr lIns="50800" tIns="50800" rIns="50800" bIns="50800" rtlCol="0" anchor="ctr"/>
            <a:lstStyle/>
            <a:p>
              <a:pPr algn="ctr">
                <a:lnSpc>
                  <a:spcPts val="2659"/>
                </a:lnSpc>
              </a:pPr>
              <a:endParaRPr/>
            </a:p>
          </p:txBody>
        </p:sp>
        <p:sp>
          <p:nvSpPr>
            <p:cNvPr id="18" name="TextBox 18">
              <a:extLst>
                <a:ext uri="{FF2B5EF4-FFF2-40B4-BE49-F238E27FC236}">
                  <a16:creationId xmlns:a16="http://schemas.microsoft.com/office/drawing/2014/main" id="{86E29C62-BB9C-1324-6182-132D083A13A6}"/>
                </a:ext>
              </a:extLst>
            </p:cNvPr>
            <p:cNvSpPr txBox="1"/>
            <p:nvPr/>
          </p:nvSpPr>
          <p:spPr>
            <a:xfrm>
              <a:off x="0" y="-433983"/>
              <a:ext cx="6387571" cy="9104801"/>
            </a:xfrm>
            <a:prstGeom prst="rect">
              <a:avLst/>
            </a:prstGeom>
          </p:spPr>
          <p:txBody>
            <a:bodyPr lIns="50800" tIns="50800" rIns="50800" bIns="50800" rtlCol="0" anchor="ctr"/>
            <a:lstStyle/>
            <a:p>
              <a:pPr algn="ctr">
                <a:lnSpc>
                  <a:spcPts val="2659"/>
                </a:lnSpc>
              </a:pPr>
              <a:endParaRPr/>
            </a:p>
          </p:txBody>
        </p:sp>
      </p:grpSp>
      <p:sp>
        <p:nvSpPr>
          <p:cNvPr id="19" name="Freeform 19">
            <a:extLst>
              <a:ext uri="{FF2B5EF4-FFF2-40B4-BE49-F238E27FC236}">
                <a16:creationId xmlns:a16="http://schemas.microsoft.com/office/drawing/2014/main" id="{E8F6A10C-0194-4ED3-A28E-303BE9183E60}"/>
              </a:ext>
            </a:extLst>
          </p:cNvPr>
          <p:cNvSpPr/>
          <p:nvPr/>
        </p:nvSpPr>
        <p:spPr>
          <a:xfrm rot="-10604382">
            <a:off x="13406245" y="-2401045"/>
            <a:ext cx="6912691" cy="7353926"/>
          </a:xfrm>
          <a:custGeom>
            <a:avLst/>
            <a:gdLst/>
            <a:ahLst/>
            <a:cxnLst/>
            <a:rect l="l" t="t" r="r" b="b"/>
            <a:pathLst>
              <a:path w="6912691" h="7353926">
                <a:moveTo>
                  <a:pt x="0" y="0"/>
                </a:moveTo>
                <a:lnTo>
                  <a:pt x="6912691" y="0"/>
                </a:lnTo>
                <a:lnTo>
                  <a:pt x="6912691" y="7353926"/>
                </a:lnTo>
                <a:lnTo>
                  <a:pt x="0" y="735392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a:extLst>
              <a:ext uri="{FF2B5EF4-FFF2-40B4-BE49-F238E27FC236}">
                <a16:creationId xmlns:a16="http://schemas.microsoft.com/office/drawing/2014/main" id="{0EFB825F-3041-3C6E-4338-CC616C877F99}"/>
              </a:ext>
            </a:extLst>
          </p:cNvPr>
          <p:cNvSpPr/>
          <p:nvPr/>
        </p:nvSpPr>
        <p:spPr>
          <a:xfrm rot="-964863">
            <a:off x="14680504" y="-713297"/>
            <a:ext cx="4478694" cy="4114800"/>
          </a:xfrm>
          <a:custGeom>
            <a:avLst/>
            <a:gdLst/>
            <a:ahLst/>
            <a:cxnLst/>
            <a:rect l="l" t="t" r="r" b="b"/>
            <a:pathLst>
              <a:path w="4478694" h="4114800">
                <a:moveTo>
                  <a:pt x="0" y="0"/>
                </a:moveTo>
                <a:lnTo>
                  <a:pt x="4478694" y="0"/>
                </a:lnTo>
                <a:lnTo>
                  <a:pt x="4478694"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9" name="TextBox 29">
            <a:extLst>
              <a:ext uri="{FF2B5EF4-FFF2-40B4-BE49-F238E27FC236}">
                <a16:creationId xmlns:a16="http://schemas.microsoft.com/office/drawing/2014/main" id="{34C651E9-32F5-5055-EC37-44B0F9CEE1AA}"/>
              </a:ext>
            </a:extLst>
          </p:cNvPr>
          <p:cNvSpPr txBox="1"/>
          <p:nvPr/>
        </p:nvSpPr>
        <p:spPr>
          <a:xfrm>
            <a:off x="4793342" y="5248514"/>
            <a:ext cx="12683987" cy="1298432"/>
          </a:xfrm>
          <a:prstGeom prst="rect">
            <a:avLst/>
          </a:prstGeom>
        </p:spPr>
        <p:txBody>
          <a:bodyPr wrap="square" lIns="0" tIns="0" rIns="0" bIns="0" rtlCol="0" anchor="ctr">
            <a:spAutoFit/>
          </a:bodyPr>
          <a:lstStyle/>
          <a:p>
            <a:pPr lvl="0">
              <a:lnSpc>
                <a:spcPts val="9600"/>
              </a:lnSpc>
              <a:spcBef>
                <a:spcPct val="0"/>
              </a:spcBef>
            </a:pPr>
            <a:r>
              <a:rPr lang="en-US" sz="15000" spc="160">
                <a:solidFill>
                  <a:schemeClr val="bg1"/>
                </a:solidFill>
                <a:latin typeface="Gagalin" panose="020B0604020202020204" charset="0"/>
                <a:ea typeface="Gagalin"/>
                <a:cs typeface="Gagalin"/>
                <a:sym typeface="Gagalin"/>
              </a:rPr>
              <a:t>THANK YOU</a:t>
            </a:r>
          </a:p>
        </p:txBody>
      </p:sp>
      <p:sp>
        <p:nvSpPr>
          <p:cNvPr id="35" name="Freeform 35">
            <a:extLst>
              <a:ext uri="{FF2B5EF4-FFF2-40B4-BE49-F238E27FC236}">
                <a16:creationId xmlns:a16="http://schemas.microsoft.com/office/drawing/2014/main" id="{6D32EC8D-3E91-E694-617A-0BF6D3EE8BD6}"/>
              </a:ext>
            </a:extLst>
          </p:cNvPr>
          <p:cNvSpPr/>
          <p:nvPr/>
        </p:nvSpPr>
        <p:spPr>
          <a:xfrm rot="3191312">
            <a:off x="10587496" y="-1345599"/>
            <a:ext cx="2539093" cy="2460612"/>
          </a:xfrm>
          <a:custGeom>
            <a:avLst/>
            <a:gdLst/>
            <a:ahLst/>
            <a:cxnLst/>
            <a:rect l="l" t="t" r="r" b="b"/>
            <a:pathLst>
              <a:path w="2539093" h="2460612">
                <a:moveTo>
                  <a:pt x="0" y="0"/>
                </a:moveTo>
                <a:lnTo>
                  <a:pt x="2539093" y="0"/>
                </a:lnTo>
                <a:lnTo>
                  <a:pt x="2539093" y="2460612"/>
                </a:lnTo>
                <a:lnTo>
                  <a:pt x="0" y="246061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6" name="TextBox 35">
            <a:extLst>
              <a:ext uri="{FF2B5EF4-FFF2-40B4-BE49-F238E27FC236}">
                <a16:creationId xmlns:a16="http://schemas.microsoft.com/office/drawing/2014/main" id="{5619B4FD-CC14-6137-2FCB-DFBB7BB56C8C}"/>
              </a:ext>
            </a:extLst>
          </p:cNvPr>
          <p:cNvSpPr txBox="1"/>
          <p:nvPr/>
        </p:nvSpPr>
        <p:spPr>
          <a:xfrm>
            <a:off x="949546" y="2097427"/>
            <a:ext cx="17431122" cy="523220"/>
          </a:xfrm>
          <a:prstGeom prst="rect">
            <a:avLst/>
          </a:prstGeom>
          <a:noFill/>
        </p:spPr>
        <p:txBody>
          <a:bodyPr wrap="square" rtlCol="0">
            <a:spAutoFit/>
          </a:bodyPr>
          <a:lstStyle/>
          <a:p>
            <a:endParaRPr lang="en-IN" sz="2800">
              <a:solidFill>
                <a:schemeClr val="bg1"/>
              </a:solidFill>
            </a:endParaRPr>
          </a:p>
        </p:txBody>
      </p:sp>
      <p:pic>
        <p:nvPicPr>
          <p:cNvPr id="37" name="Picture 36" descr="A close up of a logo">
            <a:extLst>
              <a:ext uri="{FF2B5EF4-FFF2-40B4-BE49-F238E27FC236}">
                <a16:creationId xmlns:a16="http://schemas.microsoft.com/office/drawing/2014/main" id="{46C0777D-D5BC-3482-41F1-D4499A1FF4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73200" y="0"/>
            <a:ext cx="4114800" cy="1485900"/>
          </a:xfrm>
          <a:prstGeom prst="rect">
            <a:avLst/>
          </a:prstGeom>
          <a:effectLst>
            <a:outerShdw blurRad="50800" dist="50800" dir="5400000" algn="ctr" rotWithShape="0">
              <a:srgbClr val="000000"/>
            </a:outerShdw>
          </a:effectLst>
        </p:spPr>
      </p:pic>
    </p:spTree>
    <p:extLst>
      <p:ext uri="{BB962C8B-B14F-4D97-AF65-F5344CB8AC3E}">
        <p14:creationId xmlns:p14="http://schemas.microsoft.com/office/powerpoint/2010/main" val="41729808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0</TotalTime>
  <Words>1315</Words>
  <Application>Microsoft Office PowerPoint</Application>
  <PresentationFormat>Custom</PresentationFormat>
  <Paragraphs>140</Paragraphs>
  <Slides>16</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Agrandir</vt:lpstr>
      <vt:lpstr>Bahnschrift Condensed</vt:lpstr>
      <vt:lpstr>Century Gothic</vt:lpstr>
      <vt:lpstr>Gagalin</vt:lpstr>
      <vt:lpstr>Wingdings 3</vt:lpstr>
      <vt:lpstr>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Informative or Explanatory Texts English Presentation in Colorful Pastel Doodle Style</dc:title>
  <dc:creator>HP</dc:creator>
  <cp:lastModifiedBy>ESHWAR NAGA PAVAN</cp:lastModifiedBy>
  <cp:revision>1</cp:revision>
  <dcterms:created xsi:type="dcterms:W3CDTF">2006-08-16T00:00:00Z</dcterms:created>
  <dcterms:modified xsi:type="dcterms:W3CDTF">2025-11-18T18:23:12Z</dcterms:modified>
  <dc:identifier>DAGygFT_9ck</dc:identifier>
</cp:coreProperties>
</file>